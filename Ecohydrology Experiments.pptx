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Roboto"/>
      <p:regular r:id="rId48"/>
      <p:bold r:id="rId49"/>
      <p:italic r:id="rId50"/>
      <p:boldItalic r:id="rId51"/>
    </p:embeddedFont>
    <p:embeddedFont>
      <p:font typeface="Lobster"/>
      <p:regular r:id="rId52"/>
    </p:embeddedFont>
    <p:embeddedFont>
      <p:font typeface="Open Sans SemiBold"/>
      <p:regular r:id="rId53"/>
      <p:bold r:id="rId54"/>
      <p:italic r:id="rId55"/>
      <p:boldItalic r:id="rId56"/>
    </p:embeddedFont>
    <p:embeddedFont>
      <p:font typeface="Open Sans Medium"/>
      <p:regular r:id="rId57"/>
      <p:bold r:id="rId58"/>
      <p:italic r:id="rId59"/>
      <p:boldItalic r:id="rId60"/>
    </p:embeddedFont>
    <p:embeddedFont>
      <p:font typeface="Open Sans Light"/>
      <p:regular r:id="rId61"/>
      <p:bold r:id="rId62"/>
      <p:italic r:id="rId63"/>
      <p:boldItalic r:id="rId64"/>
    </p:embeddedFont>
    <p:embeddedFont>
      <p:font typeface="Open Sans"/>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3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E721A2-12BA-4D2C-A3C7-E488E54E9686}">
  <a:tblStyle styleId="{B1E721A2-12BA-4D2C-A3C7-E488E54E968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3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regular.fntdata"/><Relationship Id="rId47" Type="http://schemas.openxmlformats.org/officeDocument/2006/relationships/slide" Target="slides/slide41.xml"/><Relationship Id="rId49"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OpenSansLight-bold.fntdata"/><Relationship Id="rId61" Type="http://schemas.openxmlformats.org/officeDocument/2006/relationships/font" Target="fonts/OpenSansLight-regular.fntdata"/><Relationship Id="rId20" Type="http://schemas.openxmlformats.org/officeDocument/2006/relationships/slide" Target="slides/slide14.xml"/><Relationship Id="rId64" Type="http://schemas.openxmlformats.org/officeDocument/2006/relationships/font" Target="fonts/OpenSansLight-boldItalic.fntdata"/><Relationship Id="rId63" Type="http://schemas.openxmlformats.org/officeDocument/2006/relationships/font" Target="fonts/OpenSansLight-italic.fntdata"/><Relationship Id="rId22" Type="http://schemas.openxmlformats.org/officeDocument/2006/relationships/slide" Target="slides/slide16.xml"/><Relationship Id="rId66" Type="http://schemas.openxmlformats.org/officeDocument/2006/relationships/font" Target="fonts/OpenSans-bold.fntdata"/><Relationship Id="rId21" Type="http://schemas.openxmlformats.org/officeDocument/2006/relationships/slide" Target="slides/slide15.xml"/><Relationship Id="rId65" Type="http://schemas.openxmlformats.org/officeDocument/2006/relationships/font" Target="fonts/OpenSans-regular.fntdata"/><Relationship Id="rId24" Type="http://schemas.openxmlformats.org/officeDocument/2006/relationships/slide" Target="slides/slide18.xml"/><Relationship Id="rId68" Type="http://schemas.openxmlformats.org/officeDocument/2006/relationships/font" Target="fonts/OpenSans-boldItalic.fntdata"/><Relationship Id="rId23" Type="http://schemas.openxmlformats.org/officeDocument/2006/relationships/slide" Target="slides/slide17.xml"/><Relationship Id="rId67" Type="http://schemas.openxmlformats.org/officeDocument/2006/relationships/font" Target="fonts/OpenSans-italic.fntdata"/><Relationship Id="rId60" Type="http://schemas.openxmlformats.org/officeDocument/2006/relationships/font" Target="fonts/OpenSansMedium-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OpenSansSemiBold-regular.fntdata"/><Relationship Id="rId52" Type="http://schemas.openxmlformats.org/officeDocument/2006/relationships/font" Target="fonts/Lobster-regular.fntdata"/><Relationship Id="rId11" Type="http://schemas.openxmlformats.org/officeDocument/2006/relationships/slide" Target="slides/slide5.xml"/><Relationship Id="rId55" Type="http://schemas.openxmlformats.org/officeDocument/2006/relationships/font" Target="fonts/OpenSansSemiBold-italic.fntdata"/><Relationship Id="rId10" Type="http://schemas.openxmlformats.org/officeDocument/2006/relationships/slide" Target="slides/slide4.xml"/><Relationship Id="rId54" Type="http://schemas.openxmlformats.org/officeDocument/2006/relationships/font" Target="fonts/OpenSansSemiBold-bold.fntdata"/><Relationship Id="rId13" Type="http://schemas.openxmlformats.org/officeDocument/2006/relationships/slide" Target="slides/slide7.xml"/><Relationship Id="rId57" Type="http://schemas.openxmlformats.org/officeDocument/2006/relationships/font" Target="fonts/OpenSansMedium-regular.fntdata"/><Relationship Id="rId12" Type="http://schemas.openxmlformats.org/officeDocument/2006/relationships/slide" Target="slides/slide6.xml"/><Relationship Id="rId56" Type="http://schemas.openxmlformats.org/officeDocument/2006/relationships/font" Target="fonts/OpenSansSemiBold-boldItalic.fntdata"/><Relationship Id="rId15" Type="http://schemas.openxmlformats.org/officeDocument/2006/relationships/slide" Target="slides/slide9.xml"/><Relationship Id="rId59" Type="http://schemas.openxmlformats.org/officeDocument/2006/relationships/font" Target="fonts/OpenSansMedium-italic.fntdata"/><Relationship Id="rId14" Type="http://schemas.openxmlformats.org/officeDocument/2006/relationships/slide" Target="slides/slide8.xml"/><Relationship Id="rId58" Type="http://schemas.openxmlformats.org/officeDocument/2006/relationships/font" Target="fonts/OpenSansMedium-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093/treephys/24.3.241"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093/treephys/24.3.241"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Folien: </a:t>
            </a:r>
            <a:endParaRPr/>
          </a:p>
          <a:p>
            <a:pPr indent="0" lvl="0" marL="0" rtl="0" algn="l">
              <a:spcBef>
                <a:spcPts val="0"/>
              </a:spcBef>
              <a:spcAft>
                <a:spcPts val="0"/>
              </a:spcAft>
              <a:buNone/>
            </a:pPr>
            <a:r>
              <a:rPr lang="de"/>
              <a:t>Marie: 1-4, 23-25</a:t>
            </a:r>
            <a:endParaRPr/>
          </a:p>
          <a:p>
            <a:pPr indent="0" lvl="0" marL="0" rtl="0" algn="l">
              <a:spcBef>
                <a:spcPts val="0"/>
              </a:spcBef>
              <a:spcAft>
                <a:spcPts val="0"/>
              </a:spcAft>
              <a:buNone/>
            </a:pPr>
            <a:r>
              <a:rPr lang="de"/>
              <a:t>Sarah: 5, 8-15</a:t>
            </a:r>
            <a:endParaRPr/>
          </a:p>
          <a:p>
            <a:pPr indent="0" lvl="0" marL="0" rtl="0" algn="l">
              <a:spcBef>
                <a:spcPts val="0"/>
              </a:spcBef>
              <a:spcAft>
                <a:spcPts val="0"/>
              </a:spcAft>
              <a:buNone/>
            </a:pPr>
            <a:r>
              <a:rPr lang="de"/>
              <a:t>Vincent + Jojo Label, 7, 26 +27</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ce81aaad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ce81aaad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50000"/>
              </a:lnSpc>
              <a:spcBef>
                <a:spcPts val="0"/>
              </a:spcBef>
              <a:spcAft>
                <a:spcPts val="0"/>
              </a:spcAft>
              <a:buClr>
                <a:srgbClr val="333333"/>
              </a:buClr>
              <a:buSzPts val="1000"/>
              <a:buFont typeface="Open Sans Light"/>
              <a:buChar char="-"/>
            </a:pPr>
            <a:r>
              <a:rPr lang="de" sz="1600">
                <a:solidFill>
                  <a:srgbClr val="333333"/>
                </a:solidFill>
                <a:latin typeface="Open Sans Light"/>
                <a:ea typeface="Open Sans Light"/>
                <a:cs typeface="Open Sans Light"/>
                <a:sym typeface="Open Sans Light"/>
              </a:rPr>
              <a:t> is a relevant component in the water cycle </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de" sz="1800">
                <a:solidFill>
                  <a:srgbClr val="595959"/>
                </a:solidFill>
              </a:rPr>
              <a:t>only component that is actively regulated via plants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ee753d75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cee753d75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de" sz="1800">
                <a:solidFill>
                  <a:srgbClr val="333333"/>
                </a:solidFill>
                <a:latin typeface="Open Sans Light"/>
                <a:ea typeface="Open Sans Light"/>
                <a:cs typeface="Open Sans Light"/>
                <a:sym typeface="Open Sans Light"/>
              </a:rPr>
              <a:t>(sufficient soil water availability, increasing temperatures and light intensities)</a:t>
            </a:r>
            <a:endParaRPr sz="1800">
              <a:solidFill>
                <a:srgbClr val="333333"/>
              </a:solidFill>
              <a:latin typeface="Open Sans Light"/>
              <a:ea typeface="Open Sans Light"/>
              <a:cs typeface="Open Sans Light"/>
              <a:sym typeface="Open Sans Light"/>
            </a:endParaRPr>
          </a:p>
          <a:p>
            <a:pPr indent="0" lvl="0" marL="457200" rtl="0" algn="l">
              <a:lnSpc>
                <a:spcPct val="115000"/>
              </a:lnSpc>
              <a:spcBef>
                <a:spcPts val="1200"/>
              </a:spcBef>
              <a:spcAft>
                <a:spcPts val="0"/>
              </a:spcAft>
              <a:buClr>
                <a:schemeClr val="dk1"/>
              </a:buClr>
              <a:buSzPts val="1100"/>
              <a:buFont typeface="Arial"/>
              <a:buNone/>
            </a:pPr>
            <a:r>
              <a:rPr lang="de" sz="1800">
                <a:solidFill>
                  <a:srgbClr val="333333"/>
                </a:solidFill>
                <a:latin typeface="Open Sans Light"/>
                <a:ea typeface="Open Sans Light"/>
                <a:cs typeface="Open Sans Light"/>
                <a:sym typeface="Open Sans Light"/>
              </a:rPr>
              <a:t>The sap velocity of individual trees corresponds to the uptake and transport velocity of the water stable isotope label</a:t>
            </a:r>
            <a:endParaRPr sz="1800">
              <a:solidFill>
                <a:srgbClr val="333333"/>
              </a:solidFill>
              <a:latin typeface="Open Sans Light"/>
              <a:ea typeface="Open Sans Light"/>
              <a:cs typeface="Open Sans Light"/>
              <a:sym typeface="Open Sans Light"/>
            </a:endParaRPr>
          </a:p>
          <a:p>
            <a:pPr indent="0" lvl="0" marL="0" rtl="0" algn="l">
              <a:spcBef>
                <a:spcPts val="1200"/>
              </a:spcBef>
              <a:spcAft>
                <a:spcPts val="0"/>
              </a:spcAft>
              <a:buNone/>
            </a:pPr>
            <a:r>
              <a:rPr lang="de"/>
              <a:t>Thomas et al. 2022: Douglas fir reaches lower water potential values compared to scots pine, lower PLC50</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6dc1c00a9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6dc1c00a9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200">
                <a:solidFill>
                  <a:srgbClr val="333333"/>
                </a:solidFill>
                <a:latin typeface="Open Sans Light"/>
                <a:ea typeface="Open Sans Light"/>
                <a:cs typeface="Open Sans Light"/>
                <a:sym typeface="Open Sans Light"/>
              </a:rPr>
              <a:t>Continuous measurements: </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120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Sap flow</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Optical dendrometer </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Soil moisture </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Environmental data</a:t>
            </a:r>
            <a:endParaRPr b="1" sz="12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None/>
            </a:pPr>
            <a:r>
              <a:t/>
            </a:r>
            <a:endParaRPr b="1" sz="18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rPr b="1" lang="de" sz="1800">
                <a:solidFill>
                  <a:srgbClr val="333333"/>
                </a:solidFill>
                <a:latin typeface="Open Sans Light"/>
                <a:ea typeface="Open Sans Light"/>
                <a:cs typeface="Open Sans Light"/>
                <a:sym typeface="Open Sans Light"/>
              </a:rPr>
              <a:t>Water Potential:</a:t>
            </a:r>
            <a:r>
              <a:rPr lang="de" sz="1800">
                <a:solidFill>
                  <a:srgbClr val="333333"/>
                </a:solidFill>
                <a:latin typeface="Open Sans Light"/>
                <a:ea typeface="Open Sans Light"/>
                <a:cs typeface="Open Sans Light"/>
                <a:sym typeface="Open Sans Light"/>
              </a:rPr>
              <a:t> </a:t>
            </a:r>
            <a:endParaRPr sz="1800">
              <a:solidFill>
                <a:srgbClr val="333333"/>
              </a:solidFill>
              <a:latin typeface="Open Sans Light"/>
              <a:ea typeface="Open Sans Light"/>
              <a:cs typeface="Open Sans Light"/>
              <a:sym typeface="Open Sans Light"/>
            </a:endParaRPr>
          </a:p>
          <a:p>
            <a:pPr indent="-305546" lvl="0" marL="457200" rtl="0" algn="l">
              <a:lnSpc>
                <a:spcPct val="115000"/>
              </a:lnSpc>
              <a:spcBef>
                <a:spcPts val="1200"/>
              </a:spcBef>
              <a:spcAft>
                <a:spcPts val="0"/>
              </a:spcAft>
              <a:buClr>
                <a:srgbClr val="333333"/>
              </a:buClr>
              <a:buSzPts val="1212"/>
              <a:buFont typeface="Open Sans Light"/>
              <a:buChar char="●"/>
            </a:pPr>
            <a:r>
              <a:rPr lang="de" sz="1800">
                <a:solidFill>
                  <a:srgbClr val="333333"/>
                </a:solidFill>
                <a:latin typeface="Open Sans Light"/>
                <a:ea typeface="Open Sans Light"/>
                <a:cs typeface="Open Sans Light"/>
                <a:sym typeface="Open Sans Light"/>
              </a:rPr>
              <a:t>on 3 consecutive days, measured with a Scholander pressure bomb</a:t>
            </a:r>
            <a:endParaRPr sz="1800">
              <a:solidFill>
                <a:srgbClr val="333333"/>
              </a:solidFill>
              <a:latin typeface="Open Sans Light"/>
              <a:ea typeface="Open Sans Light"/>
              <a:cs typeface="Open Sans Light"/>
              <a:sym typeface="Open Sans Light"/>
            </a:endParaRPr>
          </a:p>
          <a:p>
            <a:pPr indent="-305546" lvl="0" marL="457200" rtl="0" algn="l">
              <a:lnSpc>
                <a:spcPct val="115000"/>
              </a:lnSpc>
              <a:spcBef>
                <a:spcPts val="0"/>
              </a:spcBef>
              <a:spcAft>
                <a:spcPts val="0"/>
              </a:spcAft>
              <a:buClr>
                <a:srgbClr val="333333"/>
              </a:buClr>
              <a:buSzPts val="1212"/>
              <a:buFont typeface="Open Sans Light"/>
              <a:buChar char="●"/>
            </a:pPr>
            <a:r>
              <a:rPr lang="de" sz="1800">
                <a:solidFill>
                  <a:srgbClr val="333333"/>
                </a:solidFill>
                <a:latin typeface="Open Sans Light"/>
                <a:ea typeface="Open Sans Light"/>
                <a:cs typeface="Open Sans Light"/>
                <a:sym typeface="Open Sans Light"/>
              </a:rPr>
              <a:t>bagging shoot &gt;1h before measurement with aluminium foil, allows equilibration with stem</a:t>
            </a:r>
            <a:endParaRPr sz="1800">
              <a:solidFill>
                <a:srgbClr val="333333"/>
              </a:solidFill>
              <a:latin typeface="Open Sans Light"/>
              <a:ea typeface="Open Sans Light"/>
              <a:cs typeface="Open Sans Light"/>
              <a:sym typeface="Open Sans Light"/>
            </a:endParaRPr>
          </a:p>
          <a:p>
            <a:pPr indent="-305546" lvl="0" marL="457200" rtl="0" algn="l">
              <a:lnSpc>
                <a:spcPct val="115000"/>
              </a:lnSpc>
              <a:spcBef>
                <a:spcPts val="0"/>
              </a:spcBef>
              <a:spcAft>
                <a:spcPts val="0"/>
              </a:spcAft>
              <a:buClr>
                <a:srgbClr val="333333"/>
              </a:buClr>
              <a:buSzPts val="1212"/>
              <a:buFont typeface="Open Sans Light"/>
              <a:buChar char="●"/>
            </a:pPr>
            <a:r>
              <a:rPr lang="de" sz="1800">
                <a:solidFill>
                  <a:srgbClr val="333333"/>
                </a:solidFill>
                <a:latin typeface="Open Sans Light"/>
                <a:ea typeface="Open Sans Light"/>
                <a:cs typeface="Open Sans Light"/>
                <a:sym typeface="Open Sans Light"/>
              </a:rPr>
              <a:t>measurements of 25th of February were excluded due to foggy conditions </a:t>
            </a:r>
            <a:endParaRPr sz="18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rPr b="1" lang="de" sz="1800">
                <a:solidFill>
                  <a:srgbClr val="333333"/>
                </a:solidFill>
                <a:latin typeface="Open Sans Light"/>
                <a:ea typeface="Open Sans Light"/>
                <a:cs typeface="Open Sans Light"/>
                <a:sym typeface="Open Sans Light"/>
              </a:rPr>
              <a:t>Optical dendrometers: </a:t>
            </a:r>
            <a:endParaRPr b="1" sz="1800">
              <a:solidFill>
                <a:srgbClr val="333333"/>
              </a:solidFill>
              <a:latin typeface="Open Sans Light"/>
              <a:ea typeface="Open Sans Light"/>
              <a:cs typeface="Open Sans Light"/>
              <a:sym typeface="Open Sans Light"/>
            </a:endParaRPr>
          </a:p>
          <a:p>
            <a:pPr indent="-304800" lvl="0" marL="457200" rtl="0" algn="l">
              <a:lnSpc>
                <a:spcPct val="115000"/>
              </a:lnSpc>
              <a:spcBef>
                <a:spcPts val="1200"/>
              </a:spcBef>
              <a:spcAft>
                <a:spcPts val="0"/>
              </a:spcAft>
              <a:buClr>
                <a:srgbClr val="333333"/>
              </a:buClr>
              <a:buSzPts val="1200"/>
              <a:buFont typeface="Open Sans Light"/>
              <a:buChar char="●"/>
            </a:pPr>
            <a:r>
              <a:rPr lang="de" sz="1800">
                <a:solidFill>
                  <a:srgbClr val="333333"/>
                </a:solidFill>
                <a:latin typeface="Open Sans Light"/>
                <a:ea typeface="Open Sans Light"/>
                <a:cs typeface="Open Sans Light"/>
                <a:sym typeface="Open Sans Light"/>
              </a:rPr>
              <a:t>measured continuously, identifying branch area with repeated photographs</a:t>
            </a:r>
            <a:endParaRPr sz="18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800">
                <a:solidFill>
                  <a:srgbClr val="333333"/>
                </a:solidFill>
                <a:latin typeface="Open Sans Light"/>
                <a:ea typeface="Open Sans Light"/>
                <a:cs typeface="Open Sans Light"/>
                <a:sym typeface="Open Sans Light"/>
              </a:rPr>
              <a:t>used as a proxy for continuous water potential </a:t>
            </a:r>
            <a:endParaRPr sz="1400">
              <a:solidFill>
                <a:srgbClr val="333333"/>
              </a:solidFill>
              <a:latin typeface="Open Sans Light"/>
              <a:ea typeface="Open Sans Light"/>
              <a:cs typeface="Open Sans Light"/>
              <a:sym typeface="Open Sans 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cee753d75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cee753d75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200">
                <a:solidFill>
                  <a:srgbClr val="001D35"/>
                </a:solidFill>
              </a:rPr>
              <a:t>water potential: shoots were bagged to stop transpiration and allow the leaf water potential to equilibrate with the stem water potential</a:t>
            </a:r>
            <a:endParaRPr b="1" sz="12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1200"/>
              </a:spcAft>
              <a:buNone/>
            </a:pPr>
            <a:r>
              <a:t/>
            </a:r>
            <a:endParaRPr sz="1400">
              <a:solidFill>
                <a:srgbClr val="333333"/>
              </a:solidFill>
              <a:latin typeface="Open Sans Light"/>
              <a:ea typeface="Open Sans Light"/>
              <a:cs typeface="Open Sans Light"/>
              <a:sym typeface="Open Sans 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ef7f969a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ef7f969a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eeb9f76e1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eeb9f76e1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6dc1c00a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86dc1c00a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To analyse the stable isotope signatures we first had to process the raw data </a:t>
            </a:r>
            <a:endParaRPr/>
          </a:p>
          <a:p>
            <a:pPr indent="0" lvl="0" marL="0" rtl="0" algn="l">
              <a:spcBef>
                <a:spcPts val="0"/>
              </a:spcBef>
              <a:spcAft>
                <a:spcPts val="0"/>
              </a:spcAft>
              <a:buNone/>
            </a:pPr>
            <a:r>
              <a:rPr lang="de"/>
              <a:t>As a first step we calibrated the data. for this we fitted the </a:t>
            </a:r>
            <a:r>
              <a:rPr lang="de"/>
              <a:t>measurements</a:t>
            </a:r>
            <a:r>
              <a:rPr lang="de"/>
              <a:t> of our enriched water standards to the ground truth isotopic signatures using a lm</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6dc1c00a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6dc1c00a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We then saw that the Picarro produced a shift in Deuterium and 18O. This means that over time the difference between the ground truth standard deuterium and the measurements increases. We corrected this shift using again a liniar model to estimate the shift based on the time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6dc1c00a9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6dc1c00a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By then </a:t>
            </a:r>
            <a:r>
              <a:rPr lang="de"/>
              <a:t>adding</a:t>
            </a:r>
            <a:r>
              <a:rPr lang="de"/>
              <a:t> the predicted shift to the calibrated deuterium we could detrend our data. Here we see for example the standard heavy where the orange line shows the drift corrected measurements that are relatively stable values over time in comparison to the uncorrected data that increases in the beginning</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In the measurements we saw an odd jump on the second day of measurements that we could not fix with this correction which is why we excluded that day from our results.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6dc1c00a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6dc1c00a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With these processed isotopic values we could now estimate the source contribution from the soil precipitation and label using mixing models. We first applied a Bayesian approach, MixSIAR where we fitted one model for each day and species. This gives us the proportional contribution of the different sources to the mixture of Deuterium and 18O. As fixed effects we defined the tree individuals and different height levels </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Additionally we used a more simplistic mixing equation following the approach of Kühnhammer et al.</a:t>
            </a:r>
            <a:endParaRPr/>
          </a:p>
          <a:p>
            <a:pPr indent="0" lvl="0" marL="0" rtl="0" algn="l">
              <a:spcBef>
                <a:spcPts val="0"/>
              </a:spcBef>
              <a:spcAft>
                <a:spcPts val="0"/>
              </a:spcAft>
              <a:buNone/>
            </a:pPr>
            <a:r>
              <a:rPr lang="de"/>
              <a:t>In this mixing equation only the label and the soil water are assumed for sap flow contribution.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ee753d75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ee753d75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Temp, VPD, Par, RH, Soil moisture </a:t>
            </a:r>
            <a:endParaRPr/>
          </a:p>
          <a:p>
            <a:pPr indent="0" lvl="0" marL="0" rtl="0" algn="l">
              <a:spcBef>
                <a:spcPts val="0"/>
              </a:spcBef>
              <a:spcAft>
                <a:spcPts val="0"/>
              </a:spcAft>
              <a:buNone/>
            </a:pPr>
            <a:r>
              <a:rPr lang="de"/>
              <a:t>-&gt; in Grafik zeigen wann welche Messungen etc. </a:t>
            </a:r>
            <a:endParaRPr/>
          </a:p>
          <a:p>
            <a:pPr indent="0" lvl="0" marL="0" rtl="0" algn="l">
              <a:spcBef>
                <a:spcPts val="0"/>
              </a:spcBef>
              <a:spcAft>
                <a:spcPts val="0"/>
              </a:spcAft>
              <a:buNone/>
            </a:pPr>
            <a:r>
              <a:rPr lang="de"/>
              <a:t>Mean von allen Bäumen soil moisture dazu plotten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e81aaada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e81aaada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de"/>
              <a:t>Thomas et al. (2022) Douglas fir is observed to have lower Water Potnential compared to Scots pine, as low as -2.9 MPa in Douglas fir and  -2.6 MPa in Scots Pine, in mature trees, Douglas fir can reach very low values of Water Potential before loosing a lot of conductivity (PLC50 -3.8 - -5.4 MPa)</a:t>
            </a:r>
            <a:endParaRPr/>
          </a:p>
          <a:p>
            <a:pPr indent="-298450" lvl="0" marL="457200" rtl="0" algn="l">
              <a:spcBef>
                <a:spcPts val="0"/>
              </a:spcBef>
              <a:spcAft>
                <a:spcPts val="0"/>
              </a:spcAft>
              <a:buSzPts val="1100"/>
              <a:buChar char="-"/>
            </a:pPr>
            <a:r>
              <a:rPr lang="de"/>
              <a:t>Douglas fir lower water potentials </a:t>
            </a:r>
            <a:endParaRPr/>
          </a:p>
          <a:p>
            <a:pPr indent="-298450" lvl="0" marL="457200" rtl="0" algn="l">
              <a:spcBef>
                <a:spcPts val="0"/>
              </a:spcBef>
              <a:spcAft>
                <a:spcPts val="0"/>
              </a:spcAft>
              <a:buSzPts val="1100"/>
              <a:buChar char="-"/>
            </a:pPr>
            <a:r>
              <a:rPr lang="de"/>
              <a:t>Douglas fir water potential decreases midday due to high VPD, not in pine on 26.2., maybe bc conditions are good, enough soil moisture, pine keeps constant water flow, while douglas fir water flow too high, water is transpired faster than it is transported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ef7f969a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ef7f969a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Bourbia &amp; Brodribb showed that optical dendrometry can be used to continuously monitor plant water status</a:t>
            </a:r>
            <a:endParaRPr/>
          </a:p>
          <a:p>
            <a:pPr indent="0" lvl="0" marL="0" rtl="0" algn="l">
              <a:spcBef>
                <a:spcPts val="0"/>
              </a:spcBef>
              <a:spcAft>
                <a:spcPts val="0"/>
              </a:spcAft>
              <a:buNone/>
            </a:pPr>
            <a:r>
              <a:rPr lang="de"/>
              <a:t>lm: WP ~ area * ID</a:t>
            </a:r>
            <a:endParaRPr/>
          </a:p>
          <a:p>
            <a:pPr indent="0" lvl="0" marL="0" rtl="0" algn="l">
              <a:spcBef>
                <a:spcPts val="0"/>
              </a:spcBef>
              <a:spcAft>
                <a:spcPts val="0"/>
              </a:spcAft>
              <a:buNone/>
            </a:pPr>
            <a:r>
              <a:rPr lang="de"/>
              <a:t>Adj R squared: 0.34</a:t>
            </a:r>
            <a:endParaRPr/>
          </a:p>
          <a:p>
            <a:pPr indent="0" lvl="0" marL="0" rtl="0" algn="l">
              <a:spcBef>
                <a:spcPts val="0"/>
              </a:spcBef>
              <a:spcAft>
                <a:spcPts val="0"/>
              </a:spcAft>
              <a:buNone/>
            </a:pPr>
            <a:r>
              <a:rPr lang="de"/>
              <a:t>Dharma package: no significant issues detected, but also not very good diagnostics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ee753d75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cee753d75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Pine slightly higher sap flow</a:t>
            </a:r>
            <a:endParaRPr/>
          </a:p>
          <a:p>
            <a:pPr indent="0" lvl="0" marL="0" rtl="0" algn="l">
              <a:spcBef>
                <a:spcPts val="0"/>
              </a:spcBef>
              <a:spcAft>
                <a:spcPts val="0"/>
              </a:spcAft>
              <a:buNone/>
            </a:pPr>
            <a:r>
              <a:rPr lang="de"/>
              <a:t>Differences between individual trees from one species are largely explained by different sap wood areas</a:t>
            </a:r>
            <a:endParaRPr/>
          </a:p>
          <a:p>
            <a:pPr indent="0" lvl="0" marL="0" rtl="0" algn="l">
              <a:spcBef>
                <a:spcPts val="0"/>
              </a:spcBef>
              <a:spcAft>
                <a:spcPts val="0"/>
              </a:spcAft>
              <a:buNone/>
            </a:pPr>
            <a:r>
              <a:rPr lang="de"/>
              <a:t>In first few nights VPD goes down to zero, not on the 26th, 27th, not entirely on the 28th -&gt; causing sap flow at night in douglas fir but not in pine (could show refilling of sap wood with water) </a:t>
            </a:r>
            <a:endParaRPr/>
          </a:p>
          <a:p>
            <a:pPr indent="0" lvl="0" marL="0" rtl="0" algn="l">
              <a:spcBef>
                <a:spcPts val="0"/>
              </a:spcBef>
              <a:spcAft>
                <a:spcPts val="0"/>
              </a:spcAft>
              <a:buNone/>
            </a:pPr>
            <a:r>
              <a:rPr lang="de"/>
              <a:t>	Dawson et al. 2007 </a:t>
            </a:r>
            <a:endParaRPr/>
          </a:p>
          <a:p>
            <a:pPr indent="-298450" lvl="0" marL="457200" rtl="0" algn="l">
              <a:lnSpc>
                <a:spcPct val="115000"/>
              </a:lnSpc>
              <a:spcBef>
                <a:spcPts val="0"/>
              </a:spcBef>
              <a:spcAft>
                <a:spcPts val="0"/>
              </a:spcAft>
              <a:buSzPts val="1100"/>
              <a:buChar char="-"/>
            </a:pPr>
            <a:r>
              <a:rPr lang="de">
                <a:solidFill>
                  <a:schemeClr val="dk1"/>
                </a:solidFill>
              </a:rPr>
              <a:t>continued flux of water into plants at night in 20 tree species </a:t>
            </a:r>
            <a:endParaRPr>
              <a:solidFill>
                <a:schemeClr val="dk1"/>
              </a:solidFill>
            </a:endParaRPr>
          </a:p>
          <a:p>
            <a:pPr indent="-298450" lvl="0" marL="457200" rtl="0" algn="l">
              <a:lnSpc>
                <a:spcPct val="115000"/>
              </a:lnSpc>
              <a:spcBef>
                <a:spcPts val="0"/>
              </a:spcBef>
              <a:spcAft>
                <a:spcPts val="0"/>
              </a:spcAft>
              <a:buSzPts val="1100"/>
              <a:buChar char="-"/>
            </a:pPr>
            <a:r>
              <a:rPr lang="de">
                <a:solidFill>
                  <a:schemeClr val="dk1"/>
                </a:solidFill>
              </a:rPr>
              <a:t>Nighttime water flux in stems and leaves occurs because leaf water potential declines over the course of daytime transpiration to the point that, when transpiration ceases, a water potential gradient between leaf and soil remains (Hinckley 1971). This water potential gradient drives water movement that can be detected by sap flow sensors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de">
                <a:solidFill>
                  <a:schemeClr val="dk1"/>
                </a:solidFill>
              </a:rPr>
              <a:t>Cause: refilling of partially depleted xylem water stores or transpiration (</a:t>
            </a:r>
            <a:r>
              <a:rPr lang="de" sz="1050">
                <a:solidFill>
                  <a:srgbClr val="333333"/>
                </a:solidFill>
                <a:highlight>
                  <a:srgbClr val="FFFFFF"/>
                </a:highlight>
                <a:latin typeface="Roboto"/>
                <a:ea typeface="Roboto"/>
                <a:cs typeface="Roboto"/>
                <a:sym typeface="Roboto"/>
              </a:rPr>
              <a:t>We detected nighttime transpiration or nighttime stomatal conductance in trees and values were highest in plants from sites with higher soil water contents) </a:t>
            </a:r>
            <a:endParaRPr>
              <a:solidFill>
                <a:schemeClr val="dk1"/>
              </a:solidFill>
            </a:endParaRPr>
          </a:p>
          <a:p>
            <a:pPr indent="0" lvl="0" marL="0" rtl="0" algn="l">
              <a:spcBef>
                <a:spcPts val="0"/>
              </a:spcBef>
              <a:spcAft>
                <a:spcPts val="0"/>
              </a:spcAft>
              <a:buNone/>
            </a:pPr>
            <a:r>
              <a:rPr lang="de"/>
              <a:t>Sap flow increasing on warm and sunny days,  VPD  peak on 27th of Feb, influence on sap flow seems minor (similar to other days)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6dc1c00a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86dc1c00a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eeb9f76e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eeb9f76e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dual isotope plot</a:t>
            </a:r>
            <a:endParaRPr/>
          </a:p>
          <a:p>
            <a:pPr indent="0" lvl="0" marL="0" rtl="0" algn="l">
              <a:spcBef>
                <a:spcPts val="0"/>
              </a:spcBef>
              <a:spcAft>
                <a:spcPts val="0"/>
              </a:spcAft>
              <a:buNone/>
            </a:pPr>
            <a:r>
              <a:rPr lang="de"/>
              <a:t>now we come to the question if we found the label in our samples</a:t>
            </a:r>
            <a:endParaRPr/>
          </a:p>
          <a:p>
            <a:pPr indent="0" lvl="0" marL="0" rtl="0" algn="l">
              <a:spcBef>
                <a:spcPts val="0"/>
              </a:spcBef>
              <a:spcAft>
                <a:spcPts val="0"/>
              </a:spcAft>
              <a:buNone/>
            </a:pPr>
            <a:r>
              <a:rPr lang="de"/>
              <a:t>control -&gt; isotopic </a:t>
            </a:r>
            <a:r>
              <a:rPr lang="de"/>
              <a:t>signature</a:t>
            </a:r>
            <a:r>
              <a:rPr lang="de"/>
              <a:t> before labeling</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6dc1c00a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86dc1c00a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dual isotope plot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6dc1c00a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86dc1c00a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dual isotope plot</a:t>
            </a:r>
            <a:endParaRPr/>
          </a:p>
          <a:p>
            <a:pPr indent="0" lvl="0" marL="0" rtl="0" algn="l">
              <a:spcBef>
                <a:spcPts val="0"/>
              </a:spcBef>
              <a:spcAft>
                <a:spcPts val="0"/>
              </a:spcAft>
              <a:buNone/>
            </a:pPr>
            <a:r>
              <a:rPr lang="de"/>
              <a:t>label</a:t>
            </a:r>
            <a:r>
              <a:rPr lang="de"/>
              <a:t> + 6000 noch auf die folie </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for scots pine relatively small </a:t>
            </a:r>
            <a:r>
              <a:rPr lang="de"/>
              <a:t>increase</a:t>
            </a:r>
            <a:r>
              <a:rPr lang="de"/>
              <a:t> in deuterium </a:t>
            </a:r>
            <a:r>
              <a:rPr lang="de"/>
              <a:t>signature</a:t>
            </a:r>
            <a:r>
              <a:rPr lang="de"/>
              <a:t> -&gt; stay in the range of pre labeled signiture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ee753d75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cee753d75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From this data we can now statistically estimate the actual source contributions to the water mixture on that critical last day of measurement. According to our MixSIAR model Soil makes up the largest fraction of the water with around 90 - 96% followed by precipitation with 4-10%. Finally we only see a small fraction of on avg 0.6 of label in the Douglas fir and none in scots pine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6dc1c00a9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86dc1c00a9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D2 Verduennungseffect</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nur douglas fir am 27., y achse ab 0 % </a:t>
            </a:r>
            <a:endParaRPr/>
          </a:p>
          <a:p>
            <a:pPr indent="0" lvl="0" marL="0" rtl="0" algn="l">
              <a:spcBef>
                <a:spcPts val="0"/>
              </a:spcBef>
              <a:spcAft>
                <a:spcPts val="0"/>
              </a:spcAft>
              <a:buNone/>
            </a:pPr>
            <a:r>
              <a:rPr lang="de"/>
              <a:t>ml/day erwähnen absolute uptake mit sap flux kombiniert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6dc1c00a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86dc1c00a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Zooming into the label contribution we can differentiate between the 3 douglas trees and the height level. The pattern here corresponds to the isotopic values, the label contributes most to the lowest level and least to the highest. Notably the second tree deviates from the others but we will come to that later on.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solidFill>
                  <a:schemeClr val="dk1"/>
                </a:solidFill>
              </a:rPr>
              <a:t>Combining these results with the sap wood area we have a label uptake of up to 5ml/day </a:t>
            </a:r>
            <a:r>
              <a:rPr lang="de"/>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86dc1c00a9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86dc1c00a9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Zooming into the label contribution we can differentiate between the 3 douglas trees and the height level. The pattern here corresponds to the isotopic values, the label contributes most to the lowest level and least to the highest. Notably the second tree deviates from the others but we will come to that later on.</a:t>
            </a:r>
            <a:endParaRPr/>
          </a:p>
          <a:p>
            <a:pPr indent="0" lvl="0" marL="0" rtl="0" algn="l">
              <a:spcBef>
                <a:spcPts val="0"/>
              </a:spcBef>
              <a:spcAft>
                <a:spcPts val="0"/>
              </a:spcAft>
              <a:buNone/>
            </a:pPr>
            <a:r>
              <a:t/>
            </a:r>
            <a:endParaRPr/>
          </a:p>
          <a:p>
            <a:pPr indent="0" lvl="0" marL="0" rtl="0" algn="l">
              <a:spcBef>
                <a:spcPts val="0"/>
              </a:spcBef>
              <a:spcAft>
                <a:spcPts val="0"/>
              </a:spcAft>
              <a:buNone/>
            </a:pPr>
            <a:r>
              <a:rPr lang="de">
                <a:solidFill>
                  <a:schemeClr val="dk1"/>
                </a:solidFill>
              </a:rPr>
              <a:t>Combining these results with the sap wood area we have a label uptake of up to 5ml/day </a:t>
            </a:r>
            <a:r>
              <a:rPr lang="de"/>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eeb9f76e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ceeb9f76e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Finally we also compared the MixSIAR model to the approach that simpler Kuehnhammer approach. Again we have the percent contribution on the y axis and the different trees on the x-axis. we also look at the 2 days of measurements, here we see douglas fir and here scots pine. The lighter bars show the Kuehnhammer method and the other bars the MixSIAR. </a:t>
            </a:r>
            <a:br>
              <a:rPr lang="de"/>
            </a:br>
            <a:r>
              <a:rPr lang="de"/>
              <a:t>kuehnhammer method is quite on par with the mixsiar method. The mixsiar is almost consistently lower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6dc1c00a9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86dc1c00a9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Finally we also compared the MixSIAR model to the approach that simpler Kuehnhammer approach. Again we have the percent contribution on the y axis and the different trees on the x-axis. we also look at the 2 days of measurements, here we see douglas fir and here scots pine. The lighter bars show the Kuehnhammer method and the other bars the MixSIAR. </a:t>
            </a:r>
            <a:br>
              <a:rPr lang="de"/>
            </a:br>
            <a:r>
              <a:rPr lang="de"/>
              <a:t>kuehnhammer method is quite on par with the mixsiar method. The mixsiar is almost consistently lower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6dc1c00a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86dc1c00a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de" sz="1200">
                <a:solidFill>
                  <a:srgbClr val="333333"/>
                </a:solidFill>
                <a:latin typeface="Open Sans Light"/>
                <a:ea typeface="Open Sans Light"/>
                <a:cs typeface="Open Sans Light"/>
                <a:sym typeface="Open Sans Light"/>
              </a:rPr>
              <a:t>Findings:</a:t>
            </a:r>
            <a:endParaRPr b="1" sz="1200">
              <a:solidFill>
                <a:srgbClr val="333333"/>
              </a:solidFill>
              <a:latin typeface="Open Sans Light"/>
              <a:ea typeface="Open Sans Light"/>
              <a:cs typeface="Open Sans Light"/>
              <a:sym typeface="Open Sans Light"/>
            </a:endParaRPr>
          </a:p>
          <a:p>
            <a:pPr indent="-304800" lvl="0" marL="457200" rtl="0" algn="l">
              <a:lnSpc>
                <a:spcPct val="115000"/>
              </a:lnSpc>
              <a:spcBef>
                <a:spcPts val="120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Water potential drops stronger in Douglas fir</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Isotopic signature in Douglas fir indicates that label was taken up faster</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Soil moisture measured next to Douglas fir trees decreased stronger throughout sunny days</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b="1" lang="de" sz="1200">
                <a:solidFill>
                  <a:srgbClr val="333333"/>
                </a:solidFill>
                <a:latin typeface="Open Sans"/>
                <a:ea typeface="Open Sans"/>
                <a:cs typeface="Open Sans"/>
                <a:sym typeface="Open Sans"/>
              </a:rPr>
              <a:t>However:</a:t>
            </a:r>
            <a:r>
              <a:rPr lang="de" sz="1200">
                <a:solidFill>
                  <a:srgbClr val="333333"/>
                </a:solidFill>
                <a:latin typeface="Open Sans Light"/>
                <a:ea typeface="Open Sans Light"/>
                <a:cs typeface="Open Sans Light"/>
                <a:sym typeface="Open Sans Light"/>
              </a:rPr>
              <a:t> Sap flow indicates comparable water consumption in Douglas fir and Scots pine</a:t>
            </a:r>
            <a:endParaRPr sz="1200">
              <a:solidFill>
                <a:srgbClr val="333333"/>
              </a:solidFill>
              <a:latin typeface="Open Sans Light"/>
              <a:ea typeface="Open Sans Light"/>
              <a:cs typeface="Open Sans Light"/>
              <a:sym typeface="Open Sans Light"/>
            </a:endParaRPr>
          </a:p>
          <a:p>
            <a:pPr indent="0" lvl="0" marL="0" rtl="0" algn="l">
              <a:spcBef>
                <a:spcPts val="1200"/>
              </a:spcBef>
              <a:spcAft>
                <a:spcPts val="0"/>
              </a:spcAft>
              <a:buNone/>
            </a:pPr>
            <a:r>
              <a:t/>
            </a:r>
            <a:endParaRPr/>
          </a:p>
          <a:p>
            <a:pPr indent="0" lvl="0" marL="0" rtl="0" algn="l">
              <a:spcBef>
                <a:spcPts val="0"/>
              </a:spcBef>
              <a:spcAft>
                <a:spcPts val="0"/>
              </a:spcAft>
              <a:buNone/>
            </a:pPr>
            <a:r>
              <a:rPr lang="de"/>
              <a:t>issues mit upscaling vom sap flow, kiefer inner and outer sap flow unsicherheit, inner viel weniger sap flow als outer bei Kiefer, bei Douglasie etwa gleich </a:t>
            </a:r>
            <a:endParaRPr/>
          </a:p>
          <a:p>
            <a:pPr indent="0" lvl="0" marL="0" rtl="0" algn="l">
              <a:spcBef>
                <a:spcPts val="0"/>
              </a:spcBef>
              <a:spcAft>
                <a:spcPts val="0"/>
              </a:spcAft>
              <a:buNone/>
            </a:pPr>
            <a:r>
              <a:rPr lang="de"/>
              <a:t>in Berechnung größere gewichtung für sap flow, weil bäume so klein sind, bei kiefer außen bisschen überschätzt, hochgebiast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de" sz="1150">
                <a:solidFill>
                  <a:srgbClr val="2A2A2A"/>
                </a:solidFill>
                <a:highlight>
                  <a:srgbClr val="FFFFFF"/>
                </a:highlight>
              </a:rPr>
              <a:t>variation in the radial profile of sap flux density in </a:t>
            </a:r>
            <a:r>
              <a:rPr i="1" lang="de" sz="1150">
                <a:solidFill>
                  <a:srgbClr val="2A2A2A"/>
                </a:solidFill>
                <a:highlight>
                  <a:srgbClr val="FFFFFF"/>
                </a:highlight>
              </a:rPr>
              <a:t>Pinus</a:t>
            </a:r>
            <a:r>
              <a:rPr lang="de" sz="1150">
                <a:solidFill>
                  <a:srgbClr val="2A2A2A"/>
                </a:solidFill>
                <a:highlight>
                  <a:srgbClr val="FFFFFF"/>
                </a:highlight>
              </a:rPr>
              <a:t> species</a:t>
            </a:r>
            <a:endParaRPr sz="1150">
              <a:solidFill>
                <a:srgbClr val="2A2A2A"/>
              </a:solidFill>
              <a:highlight>
                <a:srgbClr val="FFFFFF"/>
              </a:highlight>
            </a:endParaRPr>
          </a:p>
          <a:p>
            <a:pPr indent="0" lvl="0" marL="0" rtl="0" algn="l">
              <a:lnSpc>
                <a:spcPct val="115000"/>
              </a:lnSpc>
              <a:spcBef>
                <a:spcPts val="0"/>
              </a:spcBef>
              <a:spcAft>
                <a:spcPts val="0"/>
              </a:spcAft>
              <a:buNone/>
            </a:pPr>
            <a:r>
              <a:t/>
            </a:r>
            <a:endParaRPr sz="1150">
              <a:solidFill>
                <a:srgbClr val="2A2A2A"/>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de" sz="1150">
                <a:solidFill>
                  <a:srgbClr val="2A2A2A"/>
                </a:solidFill>
                <a:highlight>
                  <a:srgbClr val="FFFFFF"/>
                </a:highlight>
              </a:rPr>
              <a:t>Chelcy R. Ford, Mary Anne McGuire, Robert J. Mitchell, Robert O. Teskey, Assessing variation in the radial profile of sap flux density in </a:t>
            </a:r>
            <a:r>
              <a:rPr i="1" lang="de" sz="1150">
                <a:solidFill>
                  <a:srgbClr val="2A2A2A"/>
                </a:solidFill>
                <a:highlight>
                  <a:srgbClr val="FFFFFF"/>
                </a:highlight>
              </a:rPr>
              <a:t>Pinus</a:t>
            </a:r>
            <a:r>
              <a:rPr lang="de" sz="1150">
                <a:solidFill>
                  <a:srgbClr val="2A2A2A"/>
                </a:solidFill>
                <a:highlight>
                  <a:srgbClr val="FFFFFF"/>
                </a:highlight>
              </a:rPr>
              <a:t> species and its effect on daily water use, </a:t>
            </a:r>
            <a:r>
              <a:rPr i="1" lang="de" sz="1150">
                <a:solidFill>
                  <a:srgbClr val="2A2A2A"/>
                </a:solidFill>
                <a:highlight>
                  <a:srgbClr val="FFFFFF"/>
                </a:highlight>
              </a:rPr>
              <a:t>Tree Physiology</a:t>
            </a:r>
            <a:r>
              <a:rPr lang="de" sz="1150">
                <a:solidFill>
                  <a:srgbClr val="2A2A2A"/>
                </a:solidFill>
                <a:highlight>
                  <a:srgbClr val="FFFFFF"/>
                </a:highlight>
              </a:rPr>
              <a:t>, Volume 24, Issue 3, March 2004, Pages 241–249, </a:t>
            </a:r>
            <a:r>
              <a:rPr lang="de" sz="1150">
                <a:solidFill>
                  <a:srgbClr val="006FB7"/>
                </a:solidFill>
                <a:highlight>
                  <a:srgbClr val="FFFFFF"/>
                </a:highlight>
                <a:uFill>
                  <a:noFill/>
                </a:uFill>
                <a:hlinkClick r:id="rId2">
                  <a:extLst>
                    <a:ext uri="{A12FA001-AC4F-418D-AE19-62706E023703}">
                      <ahyp:hlinkClr val="tx"/>
                    </a:ext>
                  </a:extLst>
                </a:hlinkClick>
              </a:rPr>
              <a:t>https://doi.org/10.1093/treephys/24.3.241</a:t>
            </a:r>
            <a:endParaRPr sz="1150">
              <a:solidFill>
                <a:srgbClr val="2A2A2A"/>
              </a:solidFill>
              <a:highlight>
                <a:srgbClr val="FFFFFF"/>
              </a:highlight>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cee753d751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cee753d751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de" sz="1200">
                <a:solidFill>
                  <a:srgbClr val="333333"/>
                </a:solidFill>
                <a:latin typeface="Open Sans Light"/>
                <a:ea typeface="Open Sans Light"/>
                <a:cs typeface="Open Sans Light"/>
                <a:sym typeface="Open Sans Light"/>
              </a:rPr>
              <a:t>Findings:</a:t>
            </a:r>
            <a:endParaRPr b="1" sz="1200">
              <a:solidFill>
                <a:srgbClr val="333333"/>
              </a:solidFill>
              <a:latin typeface="Open Sans Light"/>
              <a:ea typeface="Open Sans Light"/>
              <a:cs typeface="Open Sans Light"/>
              <a:sym typeface="Open Sans Light"/>
            </a:endParaRPr>
          </a:p>
          <a:p>
            <a:pPr indent="-304800" lvl="0" marL="457200" rtl="0" algn="l">
              <a:lnSpc>
                <a:spcPct val="115000"/>
              </a:lnSpc>
              <a:spcBef>
                <a:spcPts val="120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Water potential drops stronger in Douglas fir</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Isotopic signature in Douglas fir indicates that label was taken up faster</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Soil moisture measured next to Douglas fir trees decreased stronger throughout sunny days</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b="1" lang="de" sz="1200">
                <a:solidFill>
                  <a:srgbClr val="333333"/>
                </a:solidFill>
                <a:latin typeface="Open Sans"/>
                <a:ea typeface="Open Sans"/>
                <a:cs typeface="Open Sans"/>
                <a:sym typeface="Open Sans"/>
              </a:rPr>
              <a:t>However:</a:t>
            </a:r>
            <a:r>
              <a:rPr lang="de" sz="1200">
                <a:solidFill>
                  <a:srgbClr val="333333"/>
                </a:solidFill>
                <a:latin typeface="Open Sans Light"/>
                <a:ea typeface="Open Sans Light"/>
                <a:cs typeface="Open Sans Light"/>
                <a:sym typeface="Open Sans Light"/>
              </a:rPr>
              <a:t> Sap flow indicates comparable water consumption in Douglas fir and Scots pine</a:t>
            </a:r>
            <a:endParaRPr sz="1200">
              <a:solidFill>
                <a:srgbClr val="333333"/>
              </a:solidFill>
              <a:latin typeface="Open Sans Light"/>
              <a:ea typeface="Open Sans Light"/>
              <a:cs typeface="Open Sans Light"/>
              <a:sym typeface="Open Sans Light"/>
            </a:endParaRPr>
          </a:p>
          <a:p>
            <a:pPr indent="0" lvl="0" marL="0" rtl="0" algn="l">
              <a:spcBef>
                <a:spcPts val="1200"/>
              </a:spcBef>
              <a:spcAft>
                <a:spcPts val="0"/>
              </a:spcAft>
              <a:buNone/>
            </a:pPr>
            <a:r>
              <a:t/>
            </a:r>
            <a:endParaRPr/>
          </a:p>
          <a:p>
            <a:pPr indent="0" lvl="0" marL="0" rtl="0" algn="l">
              <a:spcBef>
                <a:spcPts val="0"/>
              </a:spcBef>
              <a:spcAft>
                <a:spcPts val="0"/>
              </a:spcAft>
              <a:buNone/>
            </a:pPr>
            <a:r>
              <a:rPr lang="de"/>
              <a:t>issues mit upscaling vom sap flow, kiefer inner and outer sap flow unsicherheit, inner viel weniger sap flow als outer bei Kiefer, bei Douglasie etwa gleich </a:t>
            </a:r>
            <a:endParaRPr/>
          </a:p>
          <a:p>
            <a:pPr indent="0" lvl="0" marL="0" rtl="0" algn="l">
              <a:spcBef>
                <a:spcPts val="0"/>
              </a:spcBef>
              <a:spcAft>
                <a:spcPts val="0"/>
              </a:spcAft>
              <a:buNone/>
            </a:pPr>
            <a:r>
              <a:rPr lang="de"/>
              <a:t>in Berechnung größere gewichtung für sap flow, weil bäume so klein sind, bei kiefer außen bisschen überschätzt, hochgebiast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de" sz="1150">
                <a:solidFill>
                  <a:srgbClr val="2A2A2A"/>
                </a:solidFill>
                <a:highlight>
                  <a:srgbClr val="FFFFFF"/>
                </a:highlight>
              </a:rPr>
              <a:t>variation in the radial profile of sap flux density in </a:t>
            </a:r>
            <a:r>
              <a:rPr i="1" lang="de" sz="1150">
                <a:solidFill>
                  <a:srgbClr val="2A2A2A"/>
                </a:solidFill>
                <a:highlight>
                  <a:srgbClr val="FFFFFF"/>
                </a:highlight>
              </a:rPr>
              <a:t>Pinus</a:t>
            </a:r>
            <a:r>
              <a:rPr lang="de" sz="1150">
                <a:solidFill>
                  <a:srgbClr val="2A2A2A"/>
                </a:solidFill>
                <a:highlight>
                  <a:srgbClr val="FFFFFF"/>
                </a:highlight>
              </a:rPr>
              <a:t> species</a:t>
            </a:r>
            <a:endParaRPr sz="1150">
              <a:solidFill>
                <a:srgbClr val="2A2A2A"/>
              </a:solidFill>
              <a:highlight>
                <a:srgbClr val="FFFFFF"/>
              </a:highlight>
            </a:endParaRPr>
          </a:p>
          <a:p>
            <a:pPr indent="0" lvl="0" marL="0" rtl="0" algn="l">
              <a:lnSpc>
                <a:spcPct val="115000"/>
              </a:lnSpc>
              <a:spcBef>
                <a:spcPts val="0"/>
              </a:spcBef>
              <a:spcAft>
                <a:spcPts val="0"/>
              </a:spcAft>
              <a:buNone/>
            </a:pPr>
            <a:r>
              <a:t/>
            </a:r>
            <a:endParaRPr sz="1150">
              <a:solidFill>
                <a:srgbClr val="2A2A2A"/>
              </a:solidFill>
              <a:highlight>
                <a:srgbClr val="FFFFFF"/>
              </a:highlight>
            </a:endParaRPr>
          </a:p>
          <a:p>
            <a:pPr indent="0" lvl="0" marL="0" rtl="0" algn="l">
              <a:lnSpc>
                <a:spcPct val="115000"/>
              </a:lnSpc>
              <a:spcBef>
                <a:spcPts val="0"/>
              </a:spcBef>
              <a:spcAft>
                <a:spcPts val="0"/>
              </a:spcAft>
              <a:buNone/>
            </a:pPr>
            <a:r>
              <a:rPr lang="de" sz="1150">
                <a:solidFill>
                  <a:srgbClr val="2A2A2A"/>
                </a:solidFill>
                <a:highlight>
                  <a:srgbClr val="FFFFFF"/>
                </a:highlight>
              </a:rPr>
              <a:t>Chelcy R. Ford, Mary Anne McGuire, Robert J. Mitchell, Robert O. Teskey, Assessing variation in the radial profile of sap flux density in </a:t>
            </a:r>
            <a:r>
              <a:rPr i="1" lang="de" sz="1150">
                <a:solidFill>
                  <a:srgbClr val="2A2A2A"/>
                </a:solidFill>
                <a:highlight>
                  <a:srgbClr val="FFFFFF"/>
                </a:highlight>
              </a:rPr>
              <a:t>Pinus</a:t>
            </a:r>
            <a:r>
              <a:rPr lang="de" sz="1150">
                <a:solidFill>
                  <a:srgbClr val="2A2A2A"/>
                </a:solidFill>
                <a:highlight>
                  <a:srgbClr val="FFFFFF"/>
                </a:highlight>
              </a:rPr>
              <a:t> species and its effect on daily water use, </a:t>
            </a:r>
            <a:r>
              <a:rPr i="1" lang="de" sz="1150">
                <a:solidFill>
                  <a:srgbClr val="2A2A2A"/>
                </a:solidFill>
                <a:highlight>
                  <a:srgbClr val="FFFFFF"/>
                </a:highlight>
              </a:rPr>
              <a:t>Tree Physiology</a:t>
            </a:r>
            <a:r>
              <a:rPr lang="de" sz="1150">
                <a:solidFill>
                  <a:srgbClr val="2A2A2A"/>
                </a:solidFill>
                <a:highlight>
                  <a:srgbClr val="FFFFFF"/>
                </a:highlight>
              </a:rPr>
              <a:t>, Volume 24, Issue 3, March 2004, Pages 241–249, </a:t>
            </a:r>
            <a:r>
              <a:rPr lang="de" sz="1150">
                <a:solidFill>
                  <a:srgbClr val="006FB7"/>
                </a:solidFill>
                <a:highlight>
                  <a:srgbClr val="FFFFFF"/>
                </a:highlight>
                <a:uFill>
                  <a:noFill/>
                </a:uFill>
                <a:hlinkClick r:id="rId2">
                  <a:extLst>
                    <a:ext uri="{A12FA001-AC4F-418D-AE19-62706E023703}">
                      <ahyp:hlinkClr val="tx"/>
                    </a:ext>
                  </a:extLst>
                </a:hlinkClick>
              </a:rPr>
              <a:t>https://doi.org/10.1093/treephys/24.3.241</a:t>
            </a:r>
            <a:endParaRPr sz="1150">
              <a:solidFill>
                <a:srgbClr val="2A2A2A"/>
              </a:solidFill>
              <a:highlight>
                <a:srgbClr val="FFFFFF"/>
              </a:highlight>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6dc1c00a9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86dc1c00a9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333333"/>
              </a:buClr>
              <a:buSzPts val="1600"/>
              <a:buFont typeface="Open Sans Light"/>
              <a:buChar char="-"/>
            </a:pPr>
            <a:r>
              <a:rPr b="1" lang="de" sz="1600">
                <a:solidFill>
                  <a:srgbClr val="333333"/>
                </a:solidFill>
                <a:latin typeface="Open Sans Light"/>
                <a:ea typeface="Open Sans Light"/>
                <a:cs typeface="Open Sans Light"/>
                <a:sym typeface="Open Sans Light"/>
              </a:rPr>
              <a:t>Sap velocity and label signal suggest label did not reach the low measuring height in Pine (26th and 27th) and in Douglas fir (26th)</a:t>
            </a:r>
            <a:endParaRPr b="1" sz="1600">
              <a:solidFill>
                <a:srgbClr val="333333"/>
              </a:solidFill>
              <a:latin typeface="Open Sans Light"/>
              <a:ea typeface="Open Sans Light"/>
              <a:cs typeface="Open Sans Light"/>
              <a:sym typeface="Open Sans Light"/>
            </a:endParaRPr>
          </a:p>
          <a:p>
            <a:pPr indent="-330200" lvl="0" marL="457200" rtl="0" algn="l">
              <a:lnSpc>
                <a:spcPct val="115000"/>
              </a:lnSpc>
              <a:spcBef>
                <a:spcPts val="0"/>
              </a:spcBef>
              <a:spcAft>
                <a:spcPts val="0"/>
              </a:spcAft>
              <a:buClr>
                <a:srgbClr val="333333"/>
              </a:buClr>
              <a:buSzPts val="1600"/>
              <a:buFont typeface="Open Sans Light"/>
              <a:buChar char="-"/>
            </a:pPr>
            <a:r>
              <a:rPr b="1" lang="de" sz="1600">
                <a:solidFill>
                  <a:srgbClr val="333333"/>
                </a:solidFill>
                <a:latin typeface="Open Sans"/>
                <a:ea typeface="Open Sans"/>
                <a:cs typeface="Open Sans"/>
                <a:sym typeface="Open Sans"/>
              </a:rPr>
              <a:t>However</a:t>
            </a:r>
            <a:r>
              <a:rPr b="1" lang="de" sz="1600">
                <a:solidFill>
                  <a:srgbClr val="333333"/>
                </a:solidFill>
                <a:latin typeface="Open Sans Light"/>
                <a:ea typeface="Open Sans Light"/>
                <a:cs typeface="Open Sans Light"/>
                <a:sym typeface="Open Sans Light"/>
              </a:rPr>
              <a:t> on the 27th we found isotopic label way above the height of water transport based on sap </a:t>
            </a:r>
            <a:r>
              <a:rPr b="1" lang="de" sz="1600">
                <a:solidFill>
                  <a:srgbClr val="333333"/>
                </a:solidFill>
                <a:latin typeface="Open Sans Light"/>
                <a:ea typeface="Open Sans Light"/>
                <a:cs typeface="Open Sans Light"/>
                <a:sym typeface="Open Sans Light"/>
              </a:rPr>
              <a:t>velocity</a:t>
            </a:r>
            <a:r>
              <a:rPr b="1" lang="de" sz="1600">
                <a:solidFill>
                  <a:srgbClr val="333333"/>
                </a:solidFill>
                <a:latin typeface="Open Sans Light"/>
                <a:ea typeface="Open Sans Light"/>
                <a:cs typeface="Open Sans Light"/>
                <a:sym typeface="Open Sans Light"/>
              </a:rPr>
              <a:t> in Douglas fir → possibly underestimation of sap flow </a:t>
            </a:r>
            <a:endParaRPr b="1" sz="18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None/>
            </a:pPr>
            <a:r>
              <a:t/>
            </a:r>
            <a:endParaRPr b="1" sz="18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None/>
            </a:pPr>
            <a:r>
              <a:rPr b="1" lang="de" sz="1800">
                <a:solidFill>
                  <a:srgbClr val="333333"/>
                </a:solidFill>
                <a:latin typeface="Open Sans Light"/>
                <a:ea typeface="Open Sans Light"/>
                <a:cs typeface="Open Sans Light"/>
                <a:sym typeface="Open Sans Light"/>
              </a:rPr>
              <a:t>Comparison of continuous sap flow measurements and stable isotope labelling at different tree heights?</a:t>
            </a:r>
            <a:endParaRPr b="1" sz="18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rPr b="1" lang="de" sz="1600">
                <a:solidFill>
                  <a:srgbClr val="333333"/>
                </a:solidFill>
                <a:latin typeface="Open Sans Light"/>
                <a:ea typeface="Open Sans Light"/>
                <a:cs typeface="Open Sans Light"/>
                <a:sym typeface="Open Sans Light"/>
              </a:rPr>
              <a:t>The results of the sap velocity do not support the results from the water stable isotope labelling </a:t>
            </a:r>
            <a:endParaRPr b="1" sz="16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rPr b="1" lang="de" sz="1600">
                <a:solidFill>
                  <a:srgbClr val="333333"/>
                </a:solidFill>
                <a:latin typeface="Open Sans Light"/>
                <a:ea typeface="Open Sans Light"/>
                <a:cs typeface="Open Sans Light"/>
                <a:sym typeface="Open Sans Light"/>
              </a:rPr>
              <a:t>Sap velocity indicates that water was only transported up to maximum 30cm per day, but we also found label in mid and high branches. High branches taken from 150cm. </a:t>
            </a:r>
            <a:endParaRPr b="1" sz="16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t/>
            </a:r>
            <a:endParaRPr b="1" sz="16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rPr b="1" lang="de" sz="1600">
                <a:solidFill>
                  <a:srgbClr val="333333"/>
                </a:solidFill>
                <a:latin typeface="Open Sans Light"/>
                <a:ea typeface="Open Sans Light"/>
                <a:cs typeface="Open Sans Light"/>
                <a:sym typeface="Open Sans Light"/>
              </a:rPr>
              <a:t>first arrival of the tracer signal</a:t>
            </a:r>
            <a:endParaRPr b="1" sz="16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rPr b="1" lang="de" sz="1600">
                <a:solidFill>
                  <a:srgbClr val="333333"/>
                </a:solidFill>
                <a:latin typeface="Open Sans Light"/>
                <a:ea typeface="Open Sans Light"/>
                <a:cs typeface="Open Sans Light"/>
                <a:sym typeface="Open Sans Light"/>
              </a:rPr>
              <a:t>in transpired water, defined as the time when δ2</a:t>
            </a:r>
            <a:endParaRPr b="1" sz="16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rPr b="1" lang="de" sz="1600">
                <a:solidFill>
                  <a:srgbClr val="333333"/>
                </a:solidFill>
                <a:latin typeface="Open Sans Light"/>
                <a:ea typeface="Open Sans Light"/>
                <a:cs typeface="Open Sans Light"/>
                <a:sym typeface="Open Sans Light"/>
              </a:rPr>
              <a:t>H surpassed the average</a:t>
            </a:r>
            <a:endParaRPr b="1" sz="16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Clr>
                <a:schemeClr val="dk1"/>
              </a:buClr>
              <a:buSzPts val="1100"/>
              <a:buFont typeface="Arial"/>
              <a:buNone/>
            </a:pPr>
            <a:r>
              <a:rPr b="1" lang="de" sz="1600">
                <a:solidFill>
                  <a:srgbClr val="333333"/>
                </a:solidFill>
                <a:latin typeface="Open Sans Light"/>
                <a:ea typeface="Open Sans Light"/>
                <a:cs typeface="Open Sans Light"/>
                <a:sym typeface="Open Sans Light"/>
              </a:rPr>
              <a:t>pre-labeling value plus three standard deviations (sd).</a:t>
            </a:r>
            <a:endParaRPr b="1" sz="16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1200"/>
              </a:spcAft>
              <a:buClr>
                <a:schemeClr val="dk1"/>
              </a:buClr>
              <a:buSzPts val="1100"/>
              <a:buFont typeface="Arial"/>
              <a:buNone/>
            </a:pPr>
            <a:r>
              <a:t/>
            </a:r>
            <a:endParaRPr b="1" sz="1600">
              <a:solidFill>
                <a:srgbClr val="333333"/>
              </a:solidFill>
              <a:latin typeface="Open Sans Light"/>
              <a:ea typeface="Open Sans Light"/>
              <a:cs typeface="Open Sans Light"/>
              <a:sym typeface="Open Sans Light"/>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ce81aaada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ce81aaada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333333"/>
              </a:buClr>
              <a:buSzPts val="1400"/>
              <a:buFont typeface="Open Sans Light"/>
              <a:buChar char="-"/>
            </a:pPr>
            <a:r>
              <a:rPr lang="de" sz="1400">
                <a:solidFill>
                  <a:srgbClr val="333333"/>
                </a:solidFill>
                <a:latin typeface="Open Sans Light"/>
                <a:ea typeface="Open Sans Light"/>
                <a:cs typeface="Open Sans Light"/>
                <a:sym typeface="Open Sans Light"/>
              </a:rPr>
              <a:t>Difficulty to differentiate between water from xylem and phloem</a:t>
            </a:r>
            <a:endParaRPr sz="1400">
              <a:solidFill>
                <a:srgbClr val="333333"/>
              </a:solidFill>
              <a:latin typeface="Open Sans Light"/>
              <a:ea typeface="Open Sans Light"/>
              <a:cs typeface="Open Sans Light"/>
              <a:sym typeface="Open Sans Light"/>
            </a:endParaRPr>
          </a:p>
          <a:p>
            <a:pPr indent="-317500" lvl="0" marL="457200" rtl="0" algn="l">
              <a:lnSpc>
                <a:spcPct val="115000"/>
              </a:lnSpc>
              <a:spcBef>
                <a:spcPts val="0"/>
              </a:spcBef>
              <a:spcAft>
                <a:spcPts val="0"/>
              </a:spcAft>
              <a:buClr>
                <a:srgbClr val="333333"/>
              </a:buClr>
              <a:buSzPts val="1400"/>
              <a:buFont typeface="Open Sans Light"/>
              <a:buChar char="-"/>
            </a:pPr>
            <a:r>
              <a:rPr lang="de" sz="1400">
                <a:solidFill>
                  <a:srgbClr val="333333"/>
                </a:solidFill>
                <a:latin typeface="Open Sans Light"/>
                <a:ea typeface="Open Sans Light"/>
                <a:cs typeface="Open Sans Light"/>
                <a:sym typeface="Open Sans Light"/>
              </a:rPr>
              <a:t>Sap flow calculations based on estimated parameters instead of measurements -&gt; no tree specific or species specific variations captured</a:t>
            </a:r>
            <a:endParaRPr sz="1400">
              <a:solidFill>
                <a:srgbClr val="333333"/>
              </a:solidFill>
              <a:latin typeface="Open Sans Light"/>
              <a:ea typeface="Open Sans Light"/>
              <a:cs typeface="Open Sans Light"/>
              <a:sym typeface="Open Sans Light"/>
            </a:endParaRPr>
          </a:p>
          <a:p>
            <a:pPr indent="-317500" lvl="0" marL="457200" rtl="0" algn="l">
              <a:lnSpc>
                <a:spcPct val="115000"/>
              </a:lnSpc>
              <a:spcBef>
                <a:spcPts val="0"/>
              </a:spcBef>
              <a:spcAft>
                <a:spcPts val="0"/>
              </a:spcAft>
              <a:buClr>
                <a:srgbClr val="333333"/>
              </a:buClr>
              <a:buSzPts val="1400"/>
              <a:buFont typeface="Open Sans Light"/>
              <a:buChar char="-"/>
            </a:pPr>
            <a:r>
              <a:rPr lang="de" sz="1400">
                <a:solidFill>
                  <a:srgbClr val="333333"/>
                </a:solidFill>
                <a:latin typeface="Open Sans Medium"/>
                <a:ea typeface="Open Sans Medium"/>
                <a:cs typeface="Open Sans Medium"/>
                <a:sym typeface="Open Sans Medium"/>
              </a:rPr>
              <a:t>Piccaro</a:t>
            </a:r>
            <a:r>
              <a:rPr lang="de" sz="1400">
                <a:solidFill>
                  <a:srgbClr val="333333"/>
                </a:solidFill>
                <a:latin typeface="Open Sans Light"/>
                <a:ea typeface="Open Sans Light"/>
                <a:cs typeface="Open Sans Light"/>
                <a:sym typeface="Open Sans Light"/>
              </a:rPr>
              <a:t> drift -&gt; accounted for by drift correction</a:t>
            </a:r>
            <a:endParaRPr sz="1400">
              <a:solidFill>
                <a:srgbClr val="333333"/>
              </a:solidFill>
              <a:latin typeface="Open Sans Light"/>
              <a:ea typeface="Open Sans Light"/>
              <a:cs typeface="Open Sans Light"/>
              <a:sym typeface="Open Sans Light"/>
            </a:endParaRPr>
          </a:p>
          <a:p>
            <a:pPr indent="-317500" lvl="0" marL="457200" rtl="0" algn="l">
              <a:lnSpc>
                <a:spcPct val="115000"/>
              </a:lnSpc>
              <a:spcBef>
                <a:spcPts val="0"/>
              </a:spcBef>
              <a:spcAft>
                <a:spcPts val="0"/>
              </a:spcAft>
              <a:buClr>
                <a:srgbClr val="333333"/>
              </a:buClr>
              <a:buSzPts val="1400"/>
              <a:buFont typeface="Open Sans Light"/>
              <a:buChar char="-"/>
            </a:pPr>
            <a:r>
              <a:rPr lang="de" sz="1800">
                <a:solidFill>
                  <a:srgbClr val="333333"/>
                </a:solidFill>
                <a:latin typeface="Open Sans Light"/>
                <a:ea typeface="Open Sans Light"/>
                <a:cs typeface="Open Sans Light"/>
                <a:sym typeface="Open Sans Light"/>
              </a:rPr>
              <a:t>high isotopic signature of puddles -&gt; precipitation may be too heavy and more difficult to differentiate from label (bifractation?)</a:t>
            </a:r>
            <a:endParaRPr sz="14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0"/>
              </a:spcAft>
              <a:buNone/>
            </a:pPr>
            <a:r>
              <a:rPr lang="de" sz="1400">
                <a:solidFill>
                  <a:srgbClr val="333333"/>
                </a:solidFill>
                <a:latin typeface="Open Sans Light"/>
                <a:ea typeface="Open Sans Light"/>
                <a:cs typeface="Open Sans Light"/>
                <a:sym typeface="Open Sans Light"/>
              </a:rPr>
              <a:t>cryogenic extraction -&gt; multiple uncertainties like organic contamination and incomplete evaporation</a:t>
            </a:r>
            <a:endParaRPr sz="14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1200"/>
              </a:spcAft>
              <a:buNone/>
            </a:pPr>
            <a:r>
              <a:rPr lang="de" sz="1400">
                <a:solidFill>
                  <a:srgbClr val="333333"/>
                </a:solidFill>
                <a:latin typeface="Open Sans Light"/>
                <a:ea typeface="Open Sans Light"/>
                <a:cs typeface="Open Sans Light"/>
                <a:sym typeface="Open Sans Light"/>
              </a:rPr>
              <a:t>isotope data -&gt; drift</a:t>
            </a:r>
            <a:endParaRPr sz="1400">
              <a:solidFill>
                <a:srgbClr val="333333"/>
              </a:solidFill>
              <a:latin typeface="Open Sans Light"/>
              <a:ea typeface="Open Sans Light"/>
              <a:cs typeface="Open Sans Light"/>
              <a:sym typeface="Open Sans Light"/>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ce81aaada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ce81aaada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cef7f969a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cef7f969a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fc6149cf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cfc6149cf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cee753d751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cee753d751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ce81aaada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ce81aaada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cee753d75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cee753d75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de"/>
              <a:t>D2 larger sap wood area </a:t>
            </a:r>
            <a:endParaRPr/>
          </a:p>
          <a:p>
            <a:pPr indent="-298450" lvl="0" marL="457200" rtl="0" algn="l">
              <a:spcBef>
                <a:spcPts val="0"/>
              </a:spcBef>
              <a:spcAft>
                <a:spcPts val="0"/>
              </a:spcAft>
              <a:buSzPts val="1100"/>
              <a:buChar char="-"/>
            </a:pPr>
            <a:r>
              <a:rPr lang="de"/>
              <a:t>K3 slightly larger sap wood area than other pine trees </a:t>
            </a:r>
            <a:endParaRPr/>
          </a:p>
          <a:p>
            <a:pPr indent="-298450" lvl="0" marL="457200" rtl="0" algn="l">
              <a:spcBef>
                <a:spcPts val="0"/>
              </a:spcBef>
              <a:spcAft>
                <a:spcPts val="0"/>
              </a:spcAft>
              <a:buSzPts val="1100"/>
              <a:buChar char="-"/>
            </a:pPr>
            <a:r>
              <a:rPr lang="de"/>
              <a:t>K3 </a:t>
            </a:r>
            <a:r>
              <a:rPr lang="de"/>
              <a:t>highest</a:t>
            </a:r>
            <a:r>
              <a:rPr lang="de"/>
              <a:t> difference of outer and inner sap flux density; outer sap flux density much higher, positioning of sap flow sensor in inner and outer sap wood probably high influence on measurements. -&gt; Ford et al. (2004) found </a:t>
            </a:r>
            <a:r>
              <a:rPr lang="de" sz="700">
                <a:solidFill>
                  <a:srgbClr val="141413"/>
                </a:solidFill>
                <a:highlight>
                  <a:srgbClr val="FFFFFF"/>
                </a:highlight>
                <a:latin typeface="Roboto"/>
                <a:ea typeface="Roboto"/>
                <a:cs typeface="Roboto"/>
                <a:sym typeface="Roboto"/>
              </a:rPr>
              <a:t>variability of sap flux density with depth in xylem of pine trees (pinus spp.)  not constant within a day or between trees. Time-dependent changes </a:t>
            </a:r>
            <a:r>
              <a:rPr lang="de" sz="700">
                <a:solidFill>
                  <a:srgbClr val="141413"/>
                </a:solidFill>
              </a:rPr>
              <a:t>were sometimes correlated with daily changes in evaporative demand</a:t>
            </a:r>
            <a:endParaRPr sz="700">
              <a:solidFill>
                <a:srgbClr val="141413"/>
              </a:solidFill>
            </a:endParaRPr>
          </a:p>
          <a:p>
            <a:pPr indent="-273050" lvl="0" marL="457200" rtl="0" algn="l">
              <a:spcBef>
                <a:spcPts val="0"/>
              </a:spcBef>
              <a:spcAft>
                <a:spcPts val="0"/>
              </a:spcAft>
              <a:buClr>
                <a:srgbClr val="141413"/>
              </a:buClr>
              <a:buSzPts val="700"/>
              <a:buChar char="-"/>
            </a:pPr>
            <a:r>
              <a:rPr lang="de" sz="700">
                <a:solidFill>
                  <a:srgbClr val="141413"/>
                </a:solidFill>
              </a:rPr>
              <a:t>Douglas fir slightly lower sap flow, but lower water potentials suggesting a higher water flow? and higher label abundunance; -&gt; maybe more water is stored in the sapwood, branches and needles, so they actually transpire more, but use more stored water? </a:t>
            </a:r>
            <a:endParaRPr sz="700">
              <a:solidFill>
                <a:srgbClr val="141413"/>
              </a:solidFill>
            </a:endParaRPr>
          </a:p>
          <a:p>
            <a:pPr indent="-304800" lvl="1" marL="914400" rtl="0" algn="l">
              <a:lnSpc>
                <a:spcPct val="115000"/>
              </a:lnSpc>
              <a:spcBef>
                <a:spcPts val="0"/>
              </a:spcBef>
              <a:spcAft>
                <a:spcPts val="0"/>
              </a:spcAft>
              <a:buClr>
                <a:srgbClr val="212121"/>
              </a:buClr>
              <a:buSzPts val="1200"/>
              <a:buFont typeface="Roboto"/>
              <a:buChar char="-"/>
            </a:pPr>
            <a:r>
              <a:rPr lang="de" sz="1200">
                <a:solidFill>
                  <a:srgbClr val="212121"/>
                </a:solidFill>
                <a:highlight>
                  <a:srgbClr val="FFFFFF"/>
                </a:highlight>
                <a:latin typeface="Roboto"/>
                <a:ea typeface="Roboto"/>
                <a:cs typeface="Roboto"/>
                <a:sym typeface="Roboto"/>
              </a:rPr>
              <a:t>Internally stored water contributed to daily transpiration even in well-watered trees, indicating that stored water plays an important role not only during periods of drought (Zweifel et al. 2001) </a:t>
            </a:r>
            <a:endParaRPr sz="1200">
              <a:solidFill>
                <a:srgbClr val="212121"/>
              </a:solidFill>
              <a:highlight>
                <a:srgbClr val="FFFFFF"/>
              </a:highlight>
              <a:latin typeface="Roboto"/>
              <a:ea typeface="Roboto"/>
              <a:cs typeface="Roboto"/>
              <a:sym typeface="Roboto"/>
            </a:endParaRPr>
          </a:p>
          <a:p>
            <a:pPr indent="-298450" lvl="1" marL="914400" rtl="0" algn="l">
              <a:lnSpc>
                <a:spcPct val="115000"/>
              </a:lnSpc>
              <a:spcBef>
                <a:spcPts val="0"/>
              </a:spcBef>
              <a:spcAft>
                <a:spcPts val="0"/>
              </a:spcAft>
              <a:buSzPts val="1100"/>
              <a:buFont typeface="Roboto"/>
              <a:buChar char="-"/>
            </a:pPr>
            <a:r>
              <a:rPr lang="de" sz="700">
                <a:solidFill>
                  <a:srgbClr val="1A1818"/>
                </a:solidFill>
                <a:highlight>
                  <a:srgbClr val="FFFFFF"/>
                </a:highlight>
                <a:latin typeface="Roboto"/>
                <a:ea typeface="Roboto"/>
                <a:cs typeface="Roboto"/>
                <a:sym typeface="Roboto"/>
              </a:rPr>
              <a:t>Stem sapwood  most important storage in old-growth douglas fir trees (</a:t>
            </a:r>
            <a:r>
              <a:rPr lang="de" sz="1200">
                <a:solidFill>
                  <a:srgbClr val="212121"/>
                </a:solidFill>
                <a:highlight>
                  <a:srgbClr val="FFFFFF"/>
                </a:highlight>
                <a:latin typeface="Roboto"/>
                <a:ea typeface="Roboto"/>
                <a:cs typeface="Roboto"/>
                <a:sym typeface="Roboto"/>
              </a:rPr>
              <a:t>Cermák et al. 2007)</a:t>
            </a:r>
            <a:endParaRPr sz="700">
              <a:solidFill>
                <a:srgbClr val="1A1818"/>
              </a:solidFill>
              <a:highlight>
                <a:srgbClr val="FFFFFF"/>
              </a:highlight>
              <a:latin typeface="Roboto"/>
              <a:ea typeface="Roboto"/>
              <a:cs typeface="Roboto"/>
              <a:sym typeface="Roboto"/>
            </a:endParaRPr>
          </a:p>
          <a:p>
            <a:pPr indent="-273050" lvl="1" marL="914400" rtl="0" algn="l">
              <a:lnSpc>
                <a:spcPct val="115000"/>
              </a:lnSpc>
              <a:spcBef>
                <a:spcPts val="0"/>
              </a:spcBef>
              <a:spcAft>
                <a:spcPts val="0"/>
              </a:spcAft>
              <a:buClr>
                <a:srgbClr val="1A1818"/>
              </a:buClr>
              <a:buSzPts val="700"/>
              <a:buFont typeface="Roboto"/>
              <a:buChar char="-"/>
            </a:pPr>
            <a:r>
              <a:rPr lang="de" sz="700">
                <a:solidFill>
                  <a:srgbClr val="1A1818"/>
                </a:solidFill>
                <a:highlight>
                  <a:srgbClr val="FFFFFF"/>
                </a:highlight>
                <a:latin typeface="Roboto"/>
                <a:ea typeface="Roboto"/>
                <a:cs typeface="Roboto"/>
                <a:sym typeface="Roboto"/>
              </a:rPr>
              <a:t>Tyree and Yang (1990) concluded that water stored by small trees is mainly capillary water or water released by cavitation and may comprise a large volumn</a:t>
            </a:r>
            <a:endParaRPr sz="700">
              <a:solidFill>
                <a:srgbClr val="1A1818"/>
              </a:solidFill>
              <a:highlight>
                <a:srgbClr val="FFFFFF"/>
              </a:highlight>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rgbClr val="212121"/>
              </a:solidFill>
              <a:highlight>
                <a:srgbClr val="FFFFFF"/>
              </a:highlight>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ceeb9f76e1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ceeb9f76e1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ceeb9f76e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ceeb9f76e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ml/day</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cee753d75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cee753d75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86dc1c00a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86dc1c00a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cef7f969a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cef7f969a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nur 2-5% bei Kiefern ist inner sap flux, Großteil ist outer sap flux, bei Douglasien 2-13%</a:t>
            </a:r>
            <a:endParaRPr/>
          </a:p>
          <a:p>
            <a:pPr indent="0" lvl="0" marL="0" rtl="0" algn="l">
              <a:spcBef>
                <a:spcPts val="0"/>
              </a:spcBef>
              <a:spcAft>
                <a:spcPts val="0"/>
              </a:spcAft>
              <a:buNone/>
            </a:pPr>
            <a:r>
              <a:rPr lang="de"/>
              <a:t>NADEZHDINA et al.: Overestimation of sap flux density in Pinus sylvestris when measuring in outer xylem</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86dc1c00a9_3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86dc1c00a9_3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Open Sans Medium"/>
              <a:buNone/>
              <a:defRPr sz="2800">
                <a:solidFill>
                  <a:schemeClr val="dk1"/>
                </a:solidFill>
                <a:latin typeface="Open Sans Medium"/>
                <a:ea typeface="Open Sans Medium"/>
                <a:cs typeface="Open Sans Medium"/>
                <a:sym typeface="Open Sans Mediu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333333"/>
              </a:buClr>
              <a:buSzPts val="1800"/>
              <a:buFont typeface="Open Sans Light"/>
              <a:buChar char="●"/>
              <a:defRPr sz="1800">
                <a:solidFill>
                  <a:srgbClr val="333333"/>
                </a:solidFill>
                <a:latin typeface="Open Sans Light"/>
                <a:ea typeface="Open Sans Light"/>
                <a:cs typeface="Open Sans Light"/>
                <a:sym typeface="Open Sans Light"/>
              </a:defRPr>
            </a:lvl1pPr>
            <a:lvl2pPr indent="-317500" lvl="1" marL="914400">
              <a:lnSpc>
                <a:spcPct val="115000"/>
              </a:lnSpc>
              <a:spcBef>
                <a:spcPts val="0"/>
              </a:spcBef>
              <a:spcAft>
                <a:spcPts val="0"/>
              </a:spcAft>
              <a:buClr>
                <a:srgbClr val="333333"/>
              </a:buClr>
              <a:buSzPts val="1400"/>
              <a:buFont typeface="Open Sans Light"/>
              <a:buChar char="○"/>
              <a:defRPr>
                <a:solidFill>
                  <a:srgbClr val="333333"/>
                </a:solidFill>
                <a:latin typeface="Open Sans Light"/>
                <a:ea typeface="Open Sans Light"/>
                <a:cs typeface="Open Sans Light"/>
                <a:sym typeface="Open Sans Light"/>
              </a:defRPr>
            </a:lvl2pPr>
            <a:lvl3pPr indent="-317500" lvl="2" marL="1371600">
              <a:lnSpc>
                <a:spcPct val="115000"/>
              </a:lnSpc>
              <a:spcBef>
                <a:spcPts val="0"/>
              </a:spcBef>
              <a:spcAft>
                <a:spcPts val="0"/>
              </a:spcAft>
              <a:buClr>
                <a:srgbClr val="333333"/>
              </a:buClr>
              <a:buSzPts val="1400"/>
              <a:buFont typeface="Open Sans Light"/>
              <a:buChar char="■"/>
              <a:defRPr>
                <a:solidFill>
                  <a:srgbClr val="333333"/>
                </a:solidFill>
                <a:latin typeface="Open Sans Light"/>
                <a:ea typeface="Open Sans Light"/>
                <a:cs typeface="Open Sans Light"/>
                <a:sym typeface="Open Sans Light"/>
              </a:defRPr>
            </a:lvl3pPr>
            <a:lvl4pPr indent="-317500" lvl="3" marL="1828800">
              <a:lnSpc>
                <a:spcPct val="115000"/>
              </a:lnSpc>
              <a:spcBef>
                <a:spcPts val="0"/>
              </a:spcBef>
              <a:spcAft>
                <a:spcPts val="0"/>
              </a:spcAft>
              <a:buClr>
                <a:srgbClr val="333333"/>
              </a:buClr>
              <a:buSzPts val="1400"/>
              <a:buFont typeface="Open Sans Light"/>
              <a:buChar char="●"/>
              <a:defRPr>
                <a:solidFill>
                  <a:srgbClr val="333333"/>
                </a:solidFill>
                <a:latin typeface="Open Sans Light"/>
                <a:ea typeface="Open Sans Light"/>
                <a:cs typeface="Open Sans Light"/>
                <a:sym typeface="Open Sans Light"/>
              </a:defRPr>
            </a:lvl4pPr>
            <a:lvl5pPr indent="-317500" lvl="4" marL="2286000">
              <a:lnSpc>
                <a:spcPct val="115000"/>
              </a:lnSpc>
              <a:spcBef>
                <a:spcPts val="0"/>
              </a:spcBef>
              <a:spcAft>
                <a:spcPts val="0"/>
              </a:spcAft>
              <a:buClr>
                <a:srgbClr val="333333"/>
              </a:buClr>
              <a:buSzPts val="1400"/>
              <a:buFont typeface="Open Sans Light"/>
              <a:buChar char="○"/>
              <a:defRPr>
                <a:solidFill>
                  <a:srgbClr val="333333"/>
                </a:solidFill>
                <a:latin typeface="Open Sans Light"/>
                <a:ea typeface="Open Sans Light"/>
                <a:cs typeface="Open Sans Light"/>
                <a:sym typeface="Open Sans Light"/>
              </a:defRPr>
            </a:lvl5pPr>
            <a:lvl6pPr indent="-317500" lvl="5" marL="2743200">
              <a:lnSpc>
                <a:spcPct val="115000"/>
              </a:lnSpc>
              <a:spcBef>
                <a:spcPts val="0"/>
              </a:spcBef>
              <a:spcAft>
                <a:spcPts val="0"/>
              </a:spcAft>
              <a:buClr>
                <a:srgbClr val="333333"/>
              </a:buClr>
              <a:buSzPts val="1400"/>
              <a:buFont typeface="Open Sans Light"/>
              <a:buChar char="■"/>
              <a:defRPr>
                <a:solidFill>
                  <a:srgbClr val="333333"/>
                </a:solidFill>
                <a:latin typeface="Open Sans Light"/>
                <a:ea typeface="Open Sans Light"/>
                <a:cs typeface="Open Sans Light"/>
                <a:sym typeface="Open Sans Light"/>
              </a:defRPr>
            </a:lvl6pPr>
            <a:lvl7pPr indent="-317500" lvl="6" marL="3200400">
              <a:lnSpc>
                <a:spcPct val="115000"/>
              </a:lnSpc>
              <a:spcBef>
                <a:spcPts val="0"/>
              </a:spcBef>
              <a:spcAft>
                <a:spcPts val="0"/>
              </a:spcAft>
              <a:buClr>
                <a:srgbClr val="333333"/>
              </a:buClr>
              <a:buSzPts val="1400"/>
              <a:buFont typeface="Open Sans Light"/>
              <a:buChar char="●"/>
              <a:defRPr>
                <a:solidFill>
                  <a:srgbClr val="333333"/>
                </a:solidFill>
                <a:latin typeface="Open Sans Light"/>
                <a:ea typeface="Open Sans Light"/>
                <a:cs typeface="Open Sans Light"/>
                <a:sym typeface="Open Sans Light"/>
              </a:defRPr>
            </a:lvl7pPr>
            <a:lvl8pPr indent="-317500" lvl="7" marL="3657600">
              <a:lnSpc>
                <a:spcPct val="115000"/>
              </a:lnSpc>
              <a:spcBef>
                <a:spcPts val="0"/>
              </a:spcBef>
              <a:spcAft>
                <a:spcPts val="0"/>
              </a:spcAft>
              <a:buClr>
                <a:srgbClr val="333333"/>
              </a:buClr>
              <a:buSzPts val="1400"/>
              <a:buFont typeface="Open Sans Light"/>
              <a:buChar char="○"/>
              <a:defRPr>
                <a:solidFill>
                  <a:srgbClr val="333333"/>
                </a:solidFill>
                <a:latin typeface="Open Sans Light"/>
                <a:ea typeface="Open Sans Light"/>
                <a:cs typeface="Open Sans Light"/>
                <a:sym typeface="Open Sans Light"/>
              </a:defRPr>
            </a:lvl8pPr>
            <a:lvl9pPr indent="-317500" lvl="8" marL="4114800">
              <a:lnSpc>
                <a:spcPct val="115000"/>
              </a:lnSpc>
              <a:spcBef>
                <a:spcPts val="0"/>
              </a:spcBef>
              <a:spcAft>
                <a:spcPts val="0"/>
              </a:spcAft>
              <a:buClr>
                <a:srgbClr val="333333"/>
              </a:buClr>
              <a:buSzPts val="1400"/>
              <a:buFont typeface="Open Sans Light"/>
              <a:buChar char="■"/>
              <a:defRPr>
                <a:solidFill>
                  <a:srgbClr val="333333"/>
                </a:solidFill>
                <a:latin typeface="Open Sans Light"/>
                <a:ea typeface="Open Sans Light"/>
                <a:cs typeface="Open Sans Light"/>
                <a:sym typeface="Open Sans Ligh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8.jpg"/><Relationship Id="rId4" Type="http://schemas.openxmlformats.org/officeDocument/2006/relationships/image" Target="../media/image37.jpg"/><Relationship Id="rId5"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jp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jpg"/><Relationship Id="rId4"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jp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jpg"/><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jpg"/><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31.jpg"/><Relationship Id="rId5"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33.png"/><Relationship Id="rId5"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9.jpg"/><Relationship Id="rId4" Type="http://schemas.openxmlformats.org/officeDocument/2006/relationships/image" Target="../media/image44.jpg"/><Relationship Id="rId5" Type="http://schemas.openxmlformats.org/officeDocument/2006/relationships/image" Target="../media/image43.jpg"/><Relationship Id="rId6" Type="http://schemas.openxmlformats.org/officeDocument/2006/relationships/image" Target="../media/image41.jpg"/><Relationship Id="rId7" Type="http://schemas.openxmlformats.org/officeDocument/2006/relationships/image" Target="../media/image40.jpg"/><Relationship Id="rId8" Type="http://schemas.openxmlformats.org/officeDocument/2006/relationships/image" Target="../media/image4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Bildschirmfoto 2026-03-12 um 22.11.20.png"/>
          <p:cNvPicPr preferRelativeResize="0"/>
          <p:nvPr/>
        </p:nvPicPr>
        <p:blipFill>
          <a:blip r:embed="rId3">
            <a:alphaModFix/>
          </a:blip>
          <a:stretch>
            <a:fillRect/>
          </a:stretch>
        </p:blipFill>
        <p:spPr>
          <a:xfrm>
            <a:off x="7312336" y="2633700"/>
            <a:ext cx="1730614" cy="2386725"/>
          </a:xfrm>
          <a:prstGeom prst="rect">
            <a:avLst/>
          </a:prstGeom>
          <a:noFill/>
          <a:ln>
            <a:noFill/>
          </a:ln>
        </p:spPr>
      </p:pic>
      <p:pic>
        <p:nvPicPr>
          <p:cNvPr id="55" name="Google Shape;55;p13" title="Bildschirmfoto 2026-03-12 um 19.54.10.png"/>
          <p:cNvPicPr preferRelativeResize="0"/>
          <p:nvPr/>
        </p:nvPicPr>
        <p:blipFill rotWithShape="1">
          <a:blip r:embed="rId4">
            <a:alphaModFix/>
          </a:blip>
          <a:srcRect b="0" l="0" r="62440" t="0"/>
          <a:stretch/>
        </p:blipFill>
        <p:spPr>
          <a:xfrm>
            <a:off x="-91574" y="2237002"/>
            <a:ext cx="1578587" cy="2906499"/>
          </a:xfrm>
          <a:prstGeom prst="rect">
            <a:avLst/>
          </a:prstGeom>
          <a:noFill/>
          <a:ln>
            <a:noFill/>
          </a:ln>
        </p:spPr>
      </p:pic>
      <p:sp>
        <p:nvSpPr>
          <p:cNvPr id="56" name="Google Shape;56;p13"/>
          <p:cNvSpPr txBox="1"/>
          <p:nvPr>
            <p:ph type="ctrTitle"/>
          </p:nvPr>
        </p:nvSpPr>
        <p:spPr>
          <a:xfrm>
            <a:off x="311700" y="277500"/>
            <a:ext cx="8520600" cy="2646000"/>
          </a:xfrm>
          <a:prstGeom prst="rect">
            <a:avLst/>
          </a:prstGeom>
        </p:spPr>
        <p:txBody>
          <a:bodyPr anchorCtr="0" anchor="b" bIns="91425" lIns="91425" spcFirstLastPara="1" rIns="91425" wrap="square" tIns="91425">
            <a:normAutofit fontScale="90000"/>
          </a:bodyPr>
          <a:lstStyle/>
          <a:p>
            <a:pPr indent="0" lvl="0" marL="0" rtl="0" algn="ctr">
              <a:lnSpc>
                <a:spcPct val="115000"/>
              </a:lnSpc>
              <a:spcBef>
                <a:spcPts val="0"/>
              </a:spcBef>
              <a:spcAft>
                <a:spcPts val="0"/>
              </a:spcAft>
              <a:buNone/>
            </a:pPr>
            <a:r>
              <a:t/>
            </a:r>
            <a:endParaRPr b="1" sz="3000">
              <a:solidFill>
                <a:schemeClr val="dk2"/>
              </a:solidFill>
            </a:endParaRPr>
          </a:p>
          <a:p>
            <a:pPr indent="0" lvl="0" marL="0" rtl="0" algn="ctr">
              <a:lnSpc>
                <a:spcPct val="115000"/>
              </a:lnSpc>
              <a:spcBef>
                <a:spcPts val="1200"/>
              </a:spcBef>
              <a:spcAft>
                <a:spcPts val="0"/>
              </a:spcAft>
              <a:buNone/>
            </a:pPr>
            <a:r>
              <a:t/>
            </a:r>
            <a:endParaRPr b="1" sz="3000">
              <a:solidFill>
                <a:schemeClr val="dk2"/>
              </a:solidFill>
            </a:endParaRPr>
          </a:p>
          <a:p>
            <a:pPr indent="0" lvl="0" marL="0" rtl="0" algn="ctr">
              <a:lnSpc>
                <a:spcPct val="115000"/>
              </a:lnSpc>
              <a:spcBef>
                <a:spcPts val="1200"/>
              </a:spcBef>
              <a:spcAft>
                <a:spcPts val="0"/>
              </a:spcAft>
              <a:buNone/>
            </a:pPr>
            <a:r>
              <a:rPr b="1" lang="de" sz="3000">
                <a:solidFill>
                  <a:schemeClr val="dk2"/>
                </a:solidFill>
              </a:rPr>
              <a:t>Differences in water uptake strategies of </a:t>
            </a:r>
            <a:r>
              <a:rPr b="1" i="1" lang="de" sz="3000">
                <a:solidFill>
                  <a:schemeClr val="dk2"/>
                </a:solidFill>
              </a:rPr>
              <a:t>Pinus sylvestris</a:t>
            </a:r>
            <a:r>
              <a:rPr b="1" lang="de" sz="3000">
                <a:solidFill>
                  <a:schemeClr val="dk2"/>
                </a:solidFill>
              </a:rPr>
              <a:t> and </a:t>
            </a:r>
            <a:r>
              <a:rPr b="1" i="1" lang="de" sz="3000">
                <a:solidFill>
                  <a:schemeClr val="dk2"/>
                </a:solidFill>
              </a:rPr>
              <a:t>Pseudotsuga menziesii</a:t>
            </a:r>
            <a:endParaRPr b="1" i="1" sz="3000">
              <a:solidFill>
                <a:schemeClr val="dk2"/>
              </a:solidFill>
            </a:endParaRPr>
          </a:p>
          <a:p>
            <a:pPr indent="0" lvl="0" marL="0" rtl="0" algn="ctr">
              <a:lnSpc>
                <a:spcPct val="115000"/>
              </a:lnSpc>
              <a:spcBef>
                <a:spcPts val="1200"/>
              </a:spcBef>
              <a:spcAft>
                <a:spcPts val="0"/>
              </a:spcAft>
              <a:buNone/>
            </a:pPr>
            <a:r>
              <a:t/>
            </a:r>
            <a:endParaRPr b="1" i="1" sz="3000">
              <a:solidFill>
                <a:schemeClr val="dk2"/>
              </a:solidFill>
            </a:endParaRPr>
          </a:p>
          <a:p>
            <a:pPr indent="-358140" lvl="0" marL="457200" rtl="0" algn="ctr">
              <a:lnSpc>
                <a:spcPct val="115000"/>
              </a:lnSpc>
              <a:spcBef>
                <a:spcPts val="1200"/>
              </a:spcBef>
              <a:spcAft>
                <a:spcPts val="0"/>
              </a:spcAft>
              <a:buClr>
                <a:schemeClr val="dk2"/>
              </a:buClr>
              <a:buSzPct val="100000"/>
              <a:buChar char="-"/>
            </a:pPr>
            <a:r>
              <a:rPr b="1" lang="de" sz="2266">
                <a:solidFill>
                  <a:schemeClr val="dk2"/>
                </a:solidFill>
              </a:rPr>
              <a:t>Was it enough time to find the isotopic label?  -</a:t>
            </a:r>
            <a:endParaRPr b="1" sz="2266">
              <a:solidFill>
                <a:schemeClr val="dk2"/>
              </a:solidFill>
            </a:endParaRPr>
          </a:p>
        </p:txBody>
      </p:sp>
      <p:pic>
        <p:nvPicPr>
          <p:cNvPr id="57" name="Google Shape;57;p13" title="Bildschirmfoto 2026-03-12 um 22.10.34.png"/>
          <p:cNvPicPr preferRelativeResize="0"/>
          <p:nvPr/>
        </p:nvPicPr>
        <p:blipFill>
          <a:blip r:embed="rId5">
            <a:alphaModFix/>
          </a:blip>
          <a:stretch>
            <a:fillRect/>
          </a:stretch>
        </p:blipFill>
        <p:spPr>
          <a:xfrm>
            <a:off x="1094464" y="2944125"/>
            <a:ext cx="840025" cy="751600"/>
          </a:xfrm>
          <a:prstGeom prst="rect">
            <a:avLst/>
          </a:prstGeom>
          <a:noFill/>
          <a:ln>
            <a:noFill/>
          </a:ln>
        </p:spPr>
      </p:pic>
      <p:sp>
        <p:nvSpPr>
          <p:cNvPr id="58" name="Google Shape;58;p13"/>
          <p:cNvSpPr txBox="1"/>
          <p:nvPr>
            <p:ph idx="1" type="subTitle"/>
          </p:nvPr>
        </p:nvSpPr>
        <p:spPr>
          <a:xfrm>
            <a:off x="421225" y="3293950"/>
            <a:ext cx="8520600" cy="7926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de" sz="5200">
                <a:solidFill>
                  <a:schemeClr val="dk1"/>
                </a:solidFill>
              </a:rPr>
              <a:t>Ecohydrology 2026</a:t>
            </a:r>
            <a:endParaRPr sz="5200">
              <a:solidFill>
                <a:schemeClr val="dk1"/>
              </a:solidFill>
            </a:endParaRPr>
          </a:p>
          <a:p>
            <a:pPr indent="0" lvl="0" marL="0" rtl="0" algn="ctr">
              <a:spcBef>
                <a:spcPts val="0"/>
              </a:spcBef>
              <a:spcAft>
                <a:spcPts val="0"/>
              </a:spcAft>
              <a:buNone/>
            </a:pPr>
            <a:r>
              <a:t/>
            </a:r>
            <a:endParaRPr sz="5200">
              <a:solidFill>
                <a:schemeClr val="dk1"/>
              </a:solidFill>
            </a:endParaRPr>
          </a:p>
          <a:p>
            <a:pPr indent="0" lvl="0" marL="0" rtl="0" algn="ctr">
              <a:spcBef>
                <a:spcPts val="0"/>
              </a:spcBef>
              <a:spcAft>
                <a:spcPts val="0"/>
              </a:spcAft>
              <a:buNone/>
            </a:pPr>
            <a:r>
              <a:rPr lang="de" sz="5200">
                <a:solidFill>
                  <a:schemeClr val="dk1"/>
                </a:solidFill>
              </a:rPr>
              <a:t>13.03.2026</a:t>
            </a:r>
            <a:endParaRPr sz="5200">
              <a:solidFill>
                <a:schemeClr val="dk1"/>
              </a:solidFill>
            </a:endParaRPr>
          </a:p>
          <a:p>
            <a:pPr indent="0" lvl="0" marL="0" rtl="0" algn="ctr">
              <a:spcBef>
                <a:spcPts val="0"/>
              </a:spcBef>
              <a:spcAft>
                <a:spcPts val="0"/>
              </a:spcAft>
              <a:buNone/>
            </a:pPr>
            <a:r>
              <a:t/>
            </a:r>
            <a:endParaRPr sz="5200">
              <a:solidFill>
                <a:schemeClr val="dk1"/>
              </a:solidFill>
            </a:endParaRPr>
          </a:p>
          <a:p>
            <a:pPr indent="0" lvl="0" marL="0" rtl="0" algn="ctr">
              <a:spcBef>
                <a:spcPts val="0"/>
              </a:spcBef>
              <a:spcAft>
                <a:spcPts val="0"/>
              </a:spcAft>
              <a:buNone/>
            </a:pPr>
            <a:r>
              <a:rPr lang="de" sz="5200">
                <a:solidFill>
                  <a:schemeClr val="dk1"/>
                </a:solidFill>
              </a:rPr>
              <a:t>Johanna Trost, Marie Holzmüller, Sarah Heinrich, Vincent Nilson</a:t>
            </a:r>
            <a:endParaRPr sz="5200">
              <a:solidFill>
                <a:schemeClr val="dk1"/>
              </a:solidFill>
            </a:endParaRPr>
          </a:p>
        </p:txBody>
      </p:sp>
      <p:pic>
        <p:nvPicPr>
          <p:cNvPr id="59" name="Google Shape;59;p13" title="Bildschirmfoto 2026-03-12 um 22.10.34.png"/>
          <p:cNvPicPr preferRelativeResize="0"/>
          <p:nvPr/>
        </p:nvPicPr>
        <p:blipFill>
          <a:blip r:embed="rId5">
            <a:alphaModFix/>
          </a:blip>
          <a:stretch>
            <a:fillRect/>
          </a:stretch>
        </p:blipFill>
        <p:spPr>
          <a:xfrm>
            <a:off x="6818989" y="2944125"/>
            <a:ext cx="840025" cy="75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Introduction</a:t>
            </a:r>
            <a:endParaRPr/>
          </a:p>
        </p:txBody>
      </p:sp>
      <p:sp>
        <p:nvSpPr>
          <p:cNvPr id="65" name="Google Shape;65;p14"/>
          <p:cNvSpPr txBox="1"/>
          <p:nvPr>
            <p:ph idx="1" type="body"/>
          </p:nvPr>
        </p:nvSpPr>
        <p:spPr>
          <a:xfrm>
            <a:off x="311700" y="1017725"/>
            <a:ext cx="8031900" cy="3926100"/>
          </a:xfrm>
          <a:prstGeom prst="rect">
            <a:avLst/>
          </a:prstGeom>
        </p:spPr>
        <p:txBody>
          <a:bodyPr anchorCtr="0" anchor="t" bIns="91425" lIns="91425" spcFirstLastPara="1" rIns="91425" wrap="square" tIns="91425">
            <a:normAutofit/>
          </a:bodyPr>
          <a:lstStyle/>
          <a:p>
            <a:pPr indent="-292100" lvl="0" marL="457200" rtl="0" algn="l">
              <a:lnSpc>
                <a:spcPct val="50000"/>
              </a:lnSpc>
              <a:spcBef>
                <a:spcPts val="0"/>
              </a:spcBef>
              <a:spcAft>
                <a:spcPts val="0"/>
              </a:spcAft>
              <a:buSzPts val="1000"/>
              <a:buChar char="●"/>
            </a:pPr>
            <a:r>
              <a:rPr lang="de" sz="1600"/>
              <a:t>Transpiration</a:t>
            </a:r>
            <a:r>
              <a:rPr lang="de" sz="1600"/>
              <a:t> </a:t>
            </a:r>
            <a:r>
              <a:rPr lang="de" sz="1600"/>
              <a:t>dominates evapotranspiration </a:t>
            </a:r>
            <a:endParaRPr sz="1600"/>
          </a:p>
          <a:p>
            <a:pPr indent="0" lvl="0" marL="457200" rtl="0" algn="l">
              <a:lnSpc>
                <a:spcPct val="50000"/>
              </a:lnSpc>
              <a:spcBef>
                <a:spcPts val="1200"/>
              </a:spcBef>
              <a:spcAft>
                <a:spcPts val="0"/>
              </a:spcAft>
              <a:buNone/>
            </a:pPr>
            <a:r>
              <a:rPr lang="de" sz="1600"/>
              <a:t>globally (Jascheko et al. 2013)</a:t>
            </a:r>
            <a:endParaRPr sz="1600"/>
          </a:p>
          <a:p>
            <a:pPr indent="0" lvl="0" marL="457200" rtl="0" algn="l">
              <a:lnSpc>
                <a:spcPct val="50000"/>
              </a:lnSpc>
              <a:spcBef>
                <a:spcPts val="1200"/>
              </a:spcBef>
              <a:spcAft>
                <a:spcPts val="0"/>
              </a:spcAft>
              <a:buNone/>
            </a:pPr>
            <a:r>
              <a:t/>
            </a:r>
            <a:endParaRPr sz="500"/>
          </a:p>
          <a:p>
            <a:pPr indent="-292100" lvl="0" marL="457200" rtl="0" algn="l">
              <a:lnSpc>
                <a:spcPct val="50000"/>
              </a:lnSpc>
              <a:spcBef>
                <a:spcPts val="1200"/>
              </a:spcBef>
              <a:spcAft>
                <a:spcPts val="0"/>
              </a:spcAft>
              <a:buSzPts val="1000"/>
              <a:buChar char="●"/>
            </a:pPr>
            <a:r>
              <a:rPr lang="de" sz="1600"/>
              <a:t>R</a:t>
            </a:r>
            <a:r>
              <a:rPr lang="de" sz="1600"/>
              <a:t>esearch aim at better understanding water </a:t>
            </a:r>
            <a:endParaRPr sz="1600"/>
          </a:p>
          <a:p>
            <a:pPr indent="457200" lvl="0" marL="0" rtl="0" algn="l">
              <a:lnSpc>
                <a:spcPct val="50000"/>
              </a:lnSpc>
              <a:spcBef>
                <a:spcPts val="1200"/>
              </a:spcBef>
              <a:spcAft>
                <a:spcPts val="0"/>
              </a:spcAft>
              <a:buNone/>
            </a:pPr>
            <a:r>
              <a:rPr lang="de" sz="1600"/>
              <a:t>uptake and spending across different species </a:t>
            </a:r>
            <a:endParaRPr sz="1600"/>
          </a:p>
          <a:p>
            <a:pPr indent="0" lvl="0" marL="457200" rtl="0" algn="l">
              <a:spcBef>
                <a:spcPts val="1200"/>
              </a:spcBef>
              <a:spcAft>
                <a:spcPts val="0"/>
              </a:spcAft>
              <a:buNone/>
            </a:pPr>
            <a:r>
              <a:rPr lang="de" sz="775"/>
              <a:t>												</a:t>
            </a:r>
            <a:endParaRPr sz="775"/>
          </a:p>
          <a:p>
            <a:pPr indent="-292100" lvl="0" marL="457200" rtl="0" algn="l">
              <a:lnSpc>
                <a:spcPct val="60000"/>
              </a:lnSpc>
              <a:spcBef>
                <a:spcPts val="1200"/>
              </a:spcBef>
              <a:spcAft>
                <a:spcPts val="0"/>
              </a:spcAft>
              <a:buSzPts val="1000"/>
              <a:buChar char="●"/>
            </a:pPr>
            <a:r>
              <a:rPr lang="de" sz="1600"/>
              <a:t>D</a:t>
            </a:r>
            <a:r>
              <a:rPr lang="de" sz="1600"/>
              <a:t>ifferent water uptake strategies affect drought</a:t>
            </a:r>
            <a:endParaRPr sz="1600"/>
          </a:p>
          <a:p>
            <a:pPr indent="0" lvl="0" marL="457200" rtl="0" algn="l">
              <a:lnSpc>
                <a:spcPct val="60000"/>
              </a:lnSpc>
              <a:spcBef>
                <a:spcPts val="1200"/>
              </a:spcBef>
              <a:spcAft>
                <a:spcPts val="0"/>
              </a:spcAft>
              <a:buNone/>
            </a:pPr>
            <a:r>
              <a:rPr lang="de" sz="1600"/>
              <a:t>resilience, </a:t>
            </a:r>
            <a:r>
              <a:rPr lang="de" sz="1600"/>
              <a:t>competition</a:t>
            </a:r>
            <a:r>
              <a:rPr lang="de" sz="1600"/>
              <a:t> and water availability in </a:t>
            </a:r>
            <a:endParaRPr sz="1600"/>
          </a:p>
          <a:p>
            <a:pPr indent="0" lvl="0" marL="457200" rtl="0" algn="l">
              <a:lnSpc>
                <a:spcPct val="60000"/>
              </a:lnSpc>
              <a:spcBef>
                <a:spcPts val="1200"/>
              </a:spcBef>
              <a:spcAft>
                <a:spcPts val="0"/>
              </a:spcAft>
              <a:buNone/>
            </a:pPr>
            <a:r>
              <a:rPr lang="de" sz="1600"/>
              <a:t>ecosystems (Haberstroh &amp; Werner 2022)</a:t>
            </a:r>
            <a:endParaRPr sz="1600"/>
          </a:p>
          <a:p>
            <a:pPr indent="0" lvl="0" marL="457200" rtl="0" algn="l">
              <a:spcBef>
                <a:spcPts val="1200"/>
              </a:spcBef>
              <a:spcAft>
                <a:spcPts val="0"/>
              </a:spcAft>
              <a:buNone/>
            </a:pPr>
            <a:r>
              <a:t/>
            </a:r>
            <a:endParaRPr sz="567"/>
          </a:p>
          <a:p>
            <a:pPr indent="-292100" lvl="0" marL="457200" rtl="0" algn="l">
              <a:spcBef>
                <a:spcPts val="1200"/>
              </a:spcBef>
              <a:spcAft>
                <a:spcPts val="0"/>
              </a:spcAft>
              <a:buSzPts val="1000"/>
              <a:buChar char="●"/>
            </a:pPr>
            <a:r>
              <a:rPr lang="de" sz="1600"/>
              <a:t>Water transport is mostly studied using sap flow </a:t>
            </a:r>
            <a:r>
              <a:rPr lang="de" sz="1600"/>
              <a:t>measurements</a:t>
            </a:r>
            <a:r>
              <a:rPr lang="de" sz="1600"/>
              <a:t>, but also stable isotope analysis provides insights into transport rates (Werner et al. 2021)</a:t>
            </a:r>
            <a:endParaRPr sz="1600"/>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67" name="Google Shape;67;p14" title="Bildschirmfoto 2026-03-12 um 19.45.05.png"/>
          <p:cNvPicPr preferRelativeResize="0"/>
          <p:nvPr/>
        </p:nvPicPr>
        <p:blipFill>
          <a:blip r:embed="rId3">
            <a:alphaModFix/>
          </a:blip>
          <a:stretch>
            <a:fillRect/>
          </a:stretch>
        </p:blipFill>
        <p:spPr>
          <a:xfrm>
            <a:off x="5757650" y="1059143"/>
            <a:ext cx="2714799" cy="2283781"/>
          </a:xfrm>
          <a:prstGeom prst="rect">
            <a:avLst/>
          </a:prstGeom>
          <a:noFill/>
          <a:ln>
            <a:noFill/>
          </a:ln>
        </p:spPr>
      </p:pic>
      <p:sp>
        <p:nvSpPr>
          <p:cNvPr id="68" name="Google Shape;68;p14"/>
          <p:cNvSpPr txBox="1"/>
          <p:nvPr/>
        </p:nvSpPr>
        <p:spPr>
          <a:xfrm>
            <a:off x="5757650" y="3031525"/>
            <a:ext cx="24828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000">
                <a:solidFill>
                  <a:srgbClr val="333333"/>
                </a:solidFill>
                <a:latin typeface="Open Sans Light"/>
                <a:ea typeface="Open Sans Light"/>
                <a:cs typeface="Open Sans Light"/>
                <a:sym typeface="Open Sans Light"/>
              </a:rPr>
              <a:t>U.S. Geological Survey</a:t>
            </a:r>
            <a:endParaRPr sz="1000">
              <a:solidFill>
                <a:srgbClr val="333333"/>
              </a:solidFill>
              <a:latin typeface="Open Sans Light"/>
              <a:ea typeface="Open Sans Light"/>
              <a:cs typeface="Open Sans Light"/>
              <a:sym typeface="Open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Research focus and hypotheses</a:t>
            </a:r>
            <a:endParaRPr/>
          </a:p>
        </p:txBody>
      </p:sp>
      <p:sp>
        <p:nvSpPr>
          <p:cNvPr id="74" name="Google Shape;74;p15"/>
          <p:cNvSpPr txBox="1"/>
          <p:nvPr>
            <p:ph idx="1" type="body"/>
          </p:nvPr>
        </p:nvSpPr>
        <p:spPr>
          <a:xfrm>
            <a:off x="311700" y="1152475"/>
            <a:ext cx="8709600" cy="3416400"/>
          </a:xfrm>
          <a:prstGeom prst="rect">
            <a:avLst/>
          </a:prstGeom>
        </p:spPr>
        <p:txBody>
          <a:bodyPr anchorCtr="0" anchor="t" bIns="91425" lIns="91425" spcFirstLastPara="1" rIns="91425" wrap="square" tIns="91425">
            <a:normAutofit fontScale="70000"/>
          </a:bodyPr>
          <a:lstStyle/>
          <a:p>
            <a:pPr indent="-304165" lvl="0" marL="457200" rtl="0" algn="l">
              <a:spcBef>
                <a:spcPts val="0"/>
              </a:spcBef>
              <a:spcAft>
                <a:spcPts val="0"/>
              </a:spcAft>
              <a:buSzPct val="100000"/>
              <a:buAutoNum type="arabicParenR"/>
            </a:pPr>
            <a:r>
              <a:rPr b="1" lang="de" sz="1700"/>
              <a:t>Drivers of physiological processes of tree saplings </a:t>
            </a:r>
            <a:endParaRPr b="1" sz="1700"/>
          </a:p>
          <a:p>
            <a:pPr indent="0" lvl="0" marL="457200" rtl="0" algn="l">
              <a:spcBef>
                <a:spcPts val="1200"/>
              </a:spcBef>
              <a:spcAft>
                <a:spcPts val="0"/>
              </a:spcAft>
              <a:buNone/>
            </a:pPr>
            <a:r>
              <a:rPr lang="de" sz="1700"/>
              <a:t>In the context of favorable environmental conditions we expect a pronounced diurnal course of plant activity and transpiration.</a:t>
            </a:r>
            <a:endParaRPr sz="1700">
              <a:highlight>
                <a:srgbClr val="FF9900"/>
              </a:highlight>
            </a:endParaRPr>
          </a:p>
          <a:p>
            <a:pPr indent="-304165" lvl="0" marL="457200" rtl="0" algn="l">
              <a:spcBef>
                <a:spcPts val="1200"/>
              </a:spcBef>
              <a:spcAft>
                <a:spcPts val="0"/>
              </a:spcAft>
              <a:buSzPct val="100000"/>
              <a:buAutoNum type="arabicParenR"/>
            </a:pPr>
            <a:r>
              <a:rPr b="1" lang="de" sz="1700"/>
              <a:t>Differences in water uptake strategies of </a:t>
            </a:r>
            <a:r>
              <a:rPr b="1" i="1" lang="de" sz="1700"/>
              <a:t>Pinus sylvestris</a:t>
            </a:r>
            <a:r>
              <a:rPr b="1" lang="de" sz="1700"/>
              <a:t> and </a:t>
            </a:r>
            <a:r>
              <a:rPr b="1" i="1" lang="de" sz="1700"/>
              <a:t>Pseudotsuga menziesii</a:t>
            </a:r>
            <a:endParaRPr b="1" sz="1700"/>
          </a:p>
          <a:p>
            <a:pPr indent="0" lvl="0" marL="457200" rtl="0" algn="l">
              <a:spcBef>
                <a:spcPts val="1200"/>
              </a:spcBef>
              <a:spcAft>
                <a:spcPts val="0"/>
              </a:spcAft>
              <a:buNone/>
            </a:pPr>
            <a:r>
              <a:rPr lang="de" sz="1700"/>
              <a:t>Scots pine has a more conservative water use strategy, while Douglas fir is comparably more water spending (Thomas et al. 2022).</a:t>
            </a:r>
            <a:endParaRPr sz="1700"/>
          </a:p>
          <a:p>
            <a:pPr indent="0" lvl="0" marL="457200" rtl="0" algn="l">
              <a:spcBef>
                <a:spcPts val="1200"/>
              </a:spcBef>
              <a:spcAft>
                <a:spcPts val="0"/>
              </a:spcAft>
              <a:buNone/>
            </a:pPr>
            <a:r>
              <a:rPr lang="de" sz="1700"/>
              <a:t>→  We expect lower water potentials, higher sap flow and faster uptake of isotopic label in Douglas fir</a:t>
            </a:r>
            <a:endParaRPr sz="1700"/>
          </a:p>
          <a:p>
            <a:pPr indent="-304165" lvl="0" marL="457200" rtl="0" algn="l">
              <a:spcBef>
                <a:spcPts val="1200"/>
              </a:spcBef>
              <a:spcAft>
                <a:spcPts val="0"/>
              </a:spcAft>
              <a:buSzPct val="100000"/>
              <a:buAutoNum type="arabicParenR"/>
            </a:pPr>
            <a:r>
              <a:rPr b="1" lang="de" sz="1700"/>
              <a:t>Comparison of continuous sap flow measurements with stable isotope labelling at different tree heights</a:t>
            </a:r>
            <a:endParaRPr b="1" sz="1700"/>
          </a:p>
          <a:p>
            <a:pPr indent="0" lvl="0" marL="457200" rtl="0" algn="l">
              <a:spcBef>
                <a:spcPts val="1200"/>
              </a:spcBef>
              <a:spcAft>
                <a:spcPts val="0"/>
              </a:spcAft>
              <a:buNone/>
            </a:pPr>
            <a:r>
              <a:rPr lang="de" sz="1700"/>
              <a:t>→  We expect the sap velocity of individual trees to align with the transport velocity of the water stable isotope label</a:t>
            </a:r>
            <a:endParaRPr sz="1700"/>
          </a:p>
          <a:p>
            <a:pPr indent="0" lvl="0" marL="0" rtl="0" algn="l">
              <a:spcBef>
                <a:spcPts val="1200"/>
              </a:spcBef>
              <a:spcAft>
                <a:spcPts val="1200"/>
              </a:spcAft>
              <a:buNone/>
            </a:pPr>
            <a:r>
              <a:t/>
            </a:r>
            <a:endParaRPr/>
          </a:p>
        </p:txBody>
      </p:sp>
      <p:sp>
        <p:nvSpPr>
          <p:cNvPr id="75" name="Google Shape;7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6"/>
          <p:cNvPicPr preferRelativeResize="0"/>
          <p:nvPr/>
        </p:nvPicPr>
        <p:blipFill>
          <a:blip r:embed="rId3">
            <a:alphaModFix/>
          </a:blip>
          <a:stretch>
            <a:fillRect/>
          </a:stretch>
        </p:blipFill>
        <p:spPr>
          <a:xfrm>
            <a:off x="2753101" y="1256076"/>
            <a:ext cx="6390901" cy="3332401"/>
          </a:xfrm>
          <a:prstGeom prst="rect">
            <a:avLst/>
          </a:prstGeom>
          <a:noFill/>
          <a:ln>
            <a:noFill/>
          </a:ln>
        </p:spPr>
      </p:pic>
      <p:sp>
        <p:nvSpPr>
          <p:cNvPr id="81" name="Google Shape;81;p16"/>
          <p:cNvSpPr txBox="1"/>
          <p:nvPr>
            <p:ph type="title"/>
          </p:nvPr>
        </p:nvSpPr>
        <p:spPr>
          <a:xfrm>
            <a:off x="163925" y="286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Experimental design </a:t>
            </a:r>
            <a:endParaRPr/>
          </a:p>
        </p:txBody>
      </p:sp>
      <p:sp>
        <p:nvSpPr>
          <p:cNvPr id="82" name="Google Shape;8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83" name="Google Shape;83;p16"/>
          <p:cNvSpPr txBox="1"/>
          <p:nvPr/>
        </p:nvSpPr>
        <p:spPr>
          <a:xfrm>
            <a:off x="4402225" y="908575"/>
            <a:ext cx="3733800" cy="103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de">
                <a:solidFill>
                  <a:srgbClr val="333333"/>
                </a:solidFill>
                <a:latin typeface="Open Sans"/>
                <a:ea typeface="Open Sans"/>
                <a:cs typeface="Open Sans"/>
                <a:sym typeface="Open Sans"/>
              </a:rPr>
              <a:t>3 Scots pine &amp; 3 Douglas fir </a:t>
            </a:r>
            <a:endParaRPr b="1">
              <a:solidFill>
                <a:srgbClr val="333333"/>
              </a:solidFill>
              <a:latin typeface="Open Sans"/>
              <a:ea typeface="Open Sans"/>
              <a:cs typeface="Open Sans"/>
              <a:sym typeface="Open Sans"/>
            </a:endParaRPr>
          </a:p>
        </p:txBody>
      </p:sp>
      <p:sp>
        <p:nvSpPr>
          <p:cNvPr id="84" name="Google Shape;84;p16"/>
          <p:cNvSpPr txBox="1"/>
          <p:nvPr/>
        </p:nvSpPr>
        <p:spPr>
          <a:xfrm>
            <a:off x="301300" y="1603500"/>
            <a:ext cx="3048000" cy="7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de" sz="1600">
                <a:solidFill>
                  <a:srgbClr val="333333"/>
                </a:solidFill>
                <a:latin typeface="Open Sans"/>
                <a:ea typeface="Open Sans"/>
                <a:cs typeface="Open Sans"/>
                <a:sym typeface="Open Sans"/>
              </a:rPr>
              <a:t>Continuous measurements </a:t>
            </a:r>
            <a:endParaRPr b="1" sz="1600">
              <a:solidFill>
                <a:srgbClr val="333333"/>
              </a:solidFill>
              <a:latin typeface="Open Sans"/>
              <a:ea typeface="Open Sans"/>
              <a:cs typeface="Open Sans"/>
              <a:sym typeface="Open Sans"/>
            </a:endParaRPr>
          </a:p>
          <a:p>
            <a:pPr indent="-304800" lvl="0" marL="457200" rtl="0" algn="l">
              <a:lnSpc>
                <a:spcPct val="115000"/>
              </a:lnSpc>
              <a:spcBef>
                <a:spcPts val="1200"/>
              </a:spcBef>
              <a:spcAft>
                <a:spcPts val="0"/>
              </a:spcAft>
              <a:buClr>
                <a:srgbClr val="333333"/>
              </a:buClr>
              <a:buSzPts val="1200"/>
              <a:buFont typeface="Open Sans Light"/>
              <a:buChar char="●"/>
            </a:pPr>
            <a:r>
              <a:rPr lang="de">
                <a:solidFill>
                  <a:srgbClr val="333333"/>
                </a:solidFill>
                <a:latin typeface="Open Sans Light"/>
                <a:ea typeface="Open Sans Light"/>
                <a:cs typeface="Open Sans Light"/>
                <a:sym typeface="Open Sans Light"/>
              </a:rPr>
              <a:t>Sap flow</a:t>
            </a:r>
            <a:endParaRPr>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a:solidFill>
                  <a:srgbClr val="333333"/>
                </a:solidFill>
                <a:latin typeface="Open Sans Light"/>
                <a:ea typeface="Open Sans Light"/>
                <a:cs typeface="Open Sans Light"/>
                <a:sym typeface="Open Sans Light"/>
              </a:rPr>
              <a:t>Optical dendrometer </a:t>
            </a:r>
            <a:endParaRPr>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a:solidFill>
                  <a:srgbClr val="333333"/>
                </a:solidFill>
                <a:latin typeface="Open Sans Light"/>
                <a:ea typeface="Open Sans Light"/>
                <a:cs typeface="Open Sans Light"/>
                <a:sym typeface="Open Sans Light"/>
              </a:rPr>
              <a:t>Soil moisture </a:t>
            </a:r>
            <a:endParaRPr>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a:solidFill>
                  <a:srgbClr val="333333"/>
                </a:solidFill>
                <a:latin typeface="Open Sans Light"/>
                <a:ea typeface="Open Sans Light"/>
                <a:cs typeface="Open Sans Light"/>
                <a:sym typeface="Open Sans Light"/>
              </a:rPr>
              <a:t>Environmental data</a:t>
            </a:r>
            <a:endParaRPr>
              <a:solidFill>
                <a:srgbClr val="333333"/>
              </a:solidFill>
              <a:latin typeface="Open Sans Light"/>
              <a:ea typeface="Open Sans Light"/>
              <a:cs typeface="Open Sans Light"/>
              <a:sym typeface="Open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p:cNvPicPr preferRelativeResize="0"/>
          <p:nvPr/>
        </p:nvPicPr>
        <p:blipFill>
          <a:blip r:embed="rId3">
            <a:alphaModFix/>
          </a:blip>
          <a:stretch>
            <a:fillRect/>
          </a:stretch>
        </p:blipFill>
        <p:spPr>
          <a:xfrm>
            <a:off x="2753101" y="1256076"/>
            <a:ext cx="6390901" cy="3332401"/>
          </a:xfrm>
          <a:prstGeom prst="rect">
            <a:avLst/>
          </a:prstGeom>
          <a:noFill/>
          <a:ln>
            <a:noFill/>
          </a:ln>
        </p:spPr>
      </p:pic>
      <p:sp>
        <p:nvSpPr>
          <p:cNvPr id="90" name="Google Shape;90;p17"/>
          <p:cNvSpPr txBox="1"/>
          <p:nvPr>
            <p:ph type="title"/>
          </p:nvPr>
        </p:nvSpPr>
        <p:spPr>
          <a:xfrm>
            <a:off x="163925" y="286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Experimental design </a:t>
            </a:r>
            <a:endParaRPr/>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92" name="Google Shape;92;p17"/>
          <p:cNvSpPr txBox="1"/>
          <p:nvPr/>
        </p:nvSpPr>
        <p:spPr>
          <a:xfrm>
            <a:off x="4402225" y="908575"/>
            <a:ext cx="3733800" cy="103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de">
                <a:solidFill>
                  <a:srgbClr val="333333"/>
                </a:solidFill>
                <a:latin typeface="Open Sans"/>
                <a:ea typeface="Open Sans"/>
                <a:cs typeface="Open Sans"/>
                <a:sym typeface="Open Sans"/>
              </a:rPr>
              <a:t>3 Scots pine &amp; 3 Douglas fir </a:t>
            </a:r>
            <a:endParaRPr b="1">
              <a:solidFill>
                <a:srgbClr val="333333"/>
              </a:solidFill>
              <a:latin typeface="Open Sans"/>
              <a:ea typeface="Open Sans"/>
              <a:cs typeface="Open Sans"/>
              <a:sym typeface="Open Sans"/>
            </a:endParaRPr>
          </a:p>
        </p:txBody>
      </p:sp>
      <p:sp>
        <p:nvSpPr>
          <p:cNvPr id="93" name="Google Shape;93;p17"/>
          <p:cNvSpPr txBox="1"/>
          <p:nvPr>
            <p:ph idx="1" type="body"/>
          </p:nvPr>
        </p:nvSpPr>
        <p:spPr>
          <a:xfrm>
            <a:off x="112850" y="1068450"/>
            <a:ext cx="4545000" cy="3645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de" sz="4800">
                <a:latin typeface="Open Sans"/>
                <a:ea typeface="Open Sans"/>
                <a:cs typeface="Open Sans"/>
                <a:sym typeface="Open Sans"/>
              </a:rPr>
              <a:t>Water stable isotope labelling</a:t>
            </a:r>
            <a:endParaRPr b="1" sz="4800">
              <a:latin typeface="Open Sans"/>
              <a:ea typeface="Open Sans"/>
              <a:cs typeface="Open Sans"/>
              <a:sym typeface="Open Sans"/>
            </a:endParaRPr>
          </a:p>
          <a:p>
            <a:pPr indent="-292100" lvl="0" marL="457200" rtl="0" algn="l">
              <a:spcBef>
                <a:spcPts val="1200"/>
              </a:spcBef>
              <a:spcAft>
                <a:spcPts val="0"/>
              </a:spcAft>
              <a:buSzPct val="83333"/>
              <a:buChar char="●"/>
            </a:pPr>
            <a:r>
              <a:rPr lang="de" sz="4800"/>
              <a:t>Deuterium enriched water: + 6000 </a:t>
            </a:r>
            <a:r>
              <a:rPr lang="de" sz="4800">
                <a:solidFill>
                  <a:srgbClr val="0A0A0A"/>
                </a:solidFill>
                <a:highlight>
                  <a:schemeClr val="lt1"/>
                </a:highlight>
              </a:rPr>
              <a:t>‰ </a:t>
            </a:r>
            <a:endParaRPr sz="4800"/>
          </a:p>
          <a:p>
            <a:pPr indent="-292100" lvl="0" marL="457200" rtl="0" algn="l">
              <a:spcBef>
                <a:spcPts val="0"/>
              </a:spcBef>
              <a:spcAft>
                <a:spcPts val="0"/>
              </a:spcAft>
              <a:buSzPct val="83333"/>
              <a:buChar char="●"/>
            </a:pPr>
            <a:r>
              <a:rPr lang="de" sz="4800"/>
              <a:t>1 litre applied to the soil of each sapling </a:t>
            </a:r>
            <a:endParaRPr sz="4800"/>
          </a:p>
          <a:p>
            <a:pPr indent="-292100" lvl="0" marL="457200" rtl="0" algn="l">
              <a:spcBef>
                <a:spcPts val="0"/>
              </a:spcBef>
              <a:spcAft>
                <a:spcPts val="0"/>
              </a:spcAft>
              <a:buSzPct val="83333"/>
              <a:buChar char="●"/>
            </a:pPr>
            <a:r>
              <a:rPr lang="de" sz="4800"/>
              <a:t>Before label application: samples of water isotopes in soil solution &amp; puddle (proxy for precipitation)</a:t>
            </a:r>
            <a:endParaRPr sz="4800"/>
          </a:p>
          <a:p>
            <a:pPr indent="0" lvl="0" marL="0" rtl="0" algn="l">
              <a:spcBef>
                <a:spcPts val="1200"/>
              </a:spcBef>
              <a:spcAft>
                <a:spcPts val="0"/>
              </a:spcAft>
              <a:buNone/>
            </a:pPr>
            <a:r>
              <a:t/>
            </a:r>
            <a:endParaRPr b="1" sz="4800">
              <a:latin typeface="Open Sans"/>
              <a:ea typeface="Open Sans"/>
              <a:cs typeface="Open Sans"/>
              <a:sym typeface="Open Sans"/>
            </a:endParaRPr>
          </a:p>
          <a:p>
            <a:pPr indent="0" lvl="0" marL="0" rtl="0" algn="l">
              <a:spcBef>
                <a:spcPts val="1200"/>
              </a:spcBef>
              <a:spcAft>
                <a:spcPts val="0"/>
              </a:spcAft>
              <a:buNone/>
            </a:pPr>
            <a:r>
              <a:rPr b="1" lang="de" sz="4800">
                <a:latin typeface="Open Sans"/>
                <a:ea typeface="Open Sans"/>
                <a:cs typeface="Open Sans"/>
                <a:sym typeface="Open Sans"/>
              </a:rPr>
              <a:t>Measurement campaign (3 days)</a:t>
            </a:r>
            <a:endParaRPr b="1" sz="4800">
              <a:latin typeface="Open Sans"/>
              <a:ea typeface="Open Sans"/>
              <a:cs typeface="Open Sans"/>
              <a:sym typeface="Open Sans"/>
            </a:endParaRPr>
          </a:p>
          <a:p>
            <a:pPr indent="-292100" lvl="0" marL="457200" rtl="0" algn="l">
              <a:spcBef>
                <a:spcPts val="1200"/>
              </a:spcBef>
              <a:spcAft>
                <a:spcPts val="0"/>
              </a:spcAft>
              <a:buSzPct val="83333"/>
              <a:buChar char="●"/>
            </a:pPr>
            <a:r>
              <a:rPr lang="de" sz="4800"/>
              <a:t>Water isotopes in branches </a:t>
            </a:r>
            <a:endParaRPr sz="4800"/>
          </a:p>
          <a:p>
            <a:pPr indent="-292100" lvl="1" marL="914400" rtl="0" algn="l">
              <a:spcBef>
                <a:spcPts val="0"/>
              </a:spcBef>
              <a:spcAft>
                <a:spcPts val="0"/>
              </a:spcAft>
              <a:buSzPct val="83333"/>
              <a:buChar char="○"/>
            </a:pPr>
            <a:r>
              <a:rPr lang="de" sz="4800"/>
              <a:t>Low: ~ 40 cm</a:t>
            </a:r>
            <a:endParaRPr sz="4800"/>
          </a:p>
          <a:p>
            <a:pPr indent="-292100" lvl="1" marL="914400" rtl="0" algn="l">
              <a:spcBef>
                <a:spcPts val="0"/>
              </a:spcBef>
              <a:spcAft>
                <a:spcPts val="0"/>
              </a:spcAft>
              <a:buSzPct val="83333"/>
              <a:buChar char="○"/>
            </a:pPr>
            <a:r>
              <a:rPr lang="de" sz="4800"/>
              <a:t>Mid: ~ 100 cm</a:t>
            </a:r>
            <a:endParaRPr sz="4800"/>
          </a:p>
          <a:p>
            <a:pPr indent="-292100" lvl="1" marL="914400" rtl="0" algn="l">
              <a:spcBef>
                <a:spcPts val="0"/>
              </a:spcBef>
              <a:spcAft>
                <a:spcPts val="0"/>
              </a:spcAft>
              <a:buSzPct val="83333"/>
              <a:buChar char="○"/>
            </a:pPr>
            <a:r>
              <a:rPr lang="de" sz="4800"/>
              <a:t>High: ~ 150 cm </a:t>
            </a:r>
            <a:endParaRPr sz="4800"/>
          </a:p>
          <a:p>
            <a:pPr indent="-292100" lvl="0" marL="457200" rtl="0" algn="l">
              <a:spcBef>
                <a:spcPts val="0"/>
              </a:spcBef>
              <a:spcAft>
                <a:spcPts val="0"/>
              </a:spcAft>
              <a:buSzPct val="83333"/>
              <a:buChar char="●"/>
            </a:pPr>
            <a:r>
              <a:rPr lang="de" sz="4800"/>
              <a:t>Water potential </a:t>
            </a:r>
            <a:endParaRPr sz="4800"/>
          </a:p>
          <a:p>
            <a:pPr indent="-292100" lvl="1" marL="914400" rtl="0" algn="l">
              <a:spcBef>
                <a:spcPts val="0"/>
              </a:spcBef>
              <a:spcAft>
                <a:spcPts val="0"/>
              </a:spcAft>
              <a:buSzPct val="83333"/>
              <a:buChar char="○"/>
            </a:pPr>
            <a:r>
              <a:rPr lang="de" sz="4800"/>
              <a:t>Measured with Scholander pressure bomb</a:t>
            </a:r>
            <a:endParaRPr sz="4800"/>
          </a:p>
          <a:p>
            <a:pPr indent="-292100" lvl="1" marL="914400" rtl="0" algn="l">
              <a:spcBef>
                <a:spcPts val="0"/>
              </a:spcBef>
              <a:spcAft>
                <a:spcPts val="0"/>
              </a:spcAft>
              <a:buSzPct val="83333"/>
              <a:buChar char="○"/>
            </a:pPr>
            <a:r>
              <a:rPr lang="de" sz="4800"/>
              <a:t>Shoots were bagged &gt;1h before measurement with aluminium foil</a:t>
            </a:r>
            <a:endParaRPr sz="4800"/>
          </a:p>
          <a:p>
            <a:pPr indent="-292100" lvl="1" marL="914400" rtl="0" algn="l">
              <a:spcBef>
                <a:spcPts val="0"/>
              </a:spcBef>
              <a:spcAft>
                <a:spcPts val="0"/>
              </a:spcAft>
              <a:buSzPct val="83333"/>
              <a:buChar char="○"/>
            </a:pPr>
            <a:r>
              <a:rPr lang="de" sz="4800"/>
              <a:t>Exclusion of first measurement day in analysis due to fog </a:t>
            </a:r>
            <a:endParaRPr sz="4800"/>
          </a:p>
          <a:p>
            <a:pPr indent="0" lvl="0" marL="0" rtl="0" algn="l">
              <a:spcBef>
                <a:spcPts val="1200"/>
              </a:spcBef>
              <a:spcAft>
                <a:spcPts val="1200"/>
              </a:spcAft>
              <a:buNone/>
            </a:pPr>
            <a:r>
              <a:t/>
            </a:r>
            <a:endParaRPr sz="4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Methods</a:t>
            </a:r>
            <a:endParaRPr/>
          </a:p>
        </p:txBody>
      </p:sp>
      <p:sp>
        <p:nvSpPr>
          <p:cNvPr id="99" name="Google Shape;99;p18"/>
          <p:cNvSpPr txBox="1"/>
          <p:nvPr>
            <p:ph idx="1" type="body"/>
          </p:nvPr>
        </p:nvSpPr>
        <p:spPr>
          <a:xfrm>
            <a:off x="311700" y="1375050"/>
            <a:ext cx="6462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de">
                <a:latin typeface="Open Sans"/>
                <a:ea typeface="Open Sans"/>
                <a:cs typeface="Open Sans"/>
                <a:sym typeface="Open Sans"/>
              </a:rPr>
              <a:t>Sap flow: </a:t>
            </a:r>
            <a:endParaRPr b="1">
              <a:latin typeface="Open Sans"/>
              <a:ea typeface="Open Sans"/>
              <a:cs typeface="Open Sans"/>
              <a:sym typeface="Open Sans"/>
            </a:endParaRPr>
          </a:p>
          <a:p>
            <a:pPr indent="-279400" lvl="0" marL="457200" rtl="0" algn="l">
              <a:lnSpc>
                <a:spcPct val="150000"/>
              </a:lnSpc>
              <a:spcBef>
                <a:spcPts val="1200"/>
              </a:spcBef>
              <a:spcAft>
                <a:spcPts val="0"/>
              </a:spcAft>
              <a:buSzPts val="800"/>
              <a:buChar char="●"/>
            </a:pPr>
            <a:r>
              <a:rPr lang="de" sz="1600"/>
              <a:t>Heat Ratio Method (SFM1 sensors)</a:t>
            </a:r>
            <a:endParaRPr sz="1600"/>
          </a:p>
          <a:p>
            <a:pPr indent="-279400" lvl="0" marL="457200" rtl="0" algn="l">
              <a:lnSpc>
                <a:spcPct val="150000"/>
              </a:lnSpc>
              <a:spcBef>
                <a:spcPts val="0"/>
              </a:spcBef>
              <a:spcAft>
                <a:spcPts val="0"/>
              </a:spcAft>
              <a:buSzPts val="800"/>
              <a:buChar char="●"/>
            </a:pPr>
            <a:r>
              <a:rPr lang="de" sz="1600"/>
              <a:t>Heat velocity was converted to sap velocity (cm hour</a:t>
            </a:r>
            <a:r>
              <a:rPr baseline="30000" lang="de" sz="1600"/>
              <a:t>-1</a:t>
            </a:r>
            <a:r>
              <a:rPr lang="de" sz="1600"/>
              <a:t>) and total sap flow (cm</a:t>
            </a:r>
            <a:r>
              <a:rPr baseline="30000" lang="de" sz="1600"/>
              <a:t>3</a:t>
            </a:r>
            <a:r>
              <a:rPr lang="de" sz="1600"/>
              <a:t> h</a:t>
            </a:r>
            <a:r>
              <a:rPr baseline="30000" lang="de" sz="1600"/>
              <a:t>-1</a:t>
            </a:r>
            <a:r>
              <a:rPr lang="de" sz="1600"/>
              <a:t>) following equations provided in SFM1 manual </a:t>
            </a:r>
            <a:endParaRPr sz="1600"/>
          </a:p>
          <a:p>
            <a:pPr indent="-279400" lvl="0" marL="457200" rtl="0" algn="l">
              <a:lnSpc>
                <a:spcPct val="150000"/>
              </a:lnSpc>
              <a:spcBef>
                <a:spcPts val="0"/>
              </a:spcBef>
              <a:spcAft>
                <a:spcPts val="0"/>
              </a:spcAft>
              <a:buSzPts val="800"/>
              <a:buChar char="●"/>
            </a:pPr>
            <a:r>
              <a:rPr lang="de" sz="1600"/>
              <a:t>Sap wood area estimated based on diameter of individual trees</a:t>
            </a:r>
            <a:endParaRPr sz="1600"/>
          </a:p>
          <a:p>
            <a:pPr indent="0" lvl="0" marL="0" rtl="0" algn="l">
              <a:lnSpc>
                <a:spcPct val="150000"/>
              </a:lnSpc>
              <a:spcBef>
                <a:spcPts val="1200"/>
              </a:spcBef>
              <a:spcAft>
                <a:spcPts val="1200"/>
              </a:spcAft>
              <a:buNone/>
            </a:pPr>
            <a:r>
              <a:t/>
            </a:r>
            <a:endParaRPr>
              <a:latin typeface="Open Sans"/>
              <a:ea typeface="Open Sans"/>
              <a:cs typeface="Open Sans"/>
              <a:sym typeface="Open Sans"/>
            </a:endParaRPr>
          </a:p>
        </p:txBody>
      </p:sp>
      <p:sp>
        <p:nvSpPr>
          <p:cNvPr id="100" name="Google Shape;10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101" name="Google Shape;101;p18" title="signal-2026-03-13-112012.jpeg"/>
          <p:cNvPicPr preferRelativeResize="0"/>
          <p:nvPr/>
        </p:nvPicPr>
        <p:blipFill rotWithShape="1">
          <a:blip r:embed="rId3">
            <a:alphaModFix/>
          </a:blip>
          <a:srcRect b="18340" l="16946" r="17243" t="3516"/>
          <a:stretch/>
        </p:blipFill>
        <p:spPr>
          <a:xfrm>
            <a:off x="6893275" y="1354062"/>
            <a:ext cx="1877576" cy="29728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idx="1" type="body"/>
          </p:nvPr>
        </p:nvSpPr>
        <p:spPr>
          <a:xfrm>
            <a:off x="311700" y="1143925"/>
            <a:ext cx="8520600" cy="342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latin typeface="Open Sans"/>
                <a:ea typeface="Open Sans"/>
                <a:cs typeface="Open Sans"/>
                <a:sym typeface="Open Sans"/>
              </a:rPr>
              <a:t>Isotope labelling experiment:</a:t>
            </a:r>
            <a:endParaRPr b="1">
              <a:latin typeface="Open Sans"/>
              <a:ea typeface="Open Sans"/>
              <a:cs typeface="Open Sans"/>
              <a:sym typeface="Open Sans"/>
            </a:endParaRPr>
          </a:p>
          <a:p>
            <a:pPr indent="-279400" lvl="0" marL="457200" rtl="0" algn="l">
              <a:spcBef>
                <a:spcPts val="1200"/>
              </a:spcBef>
              <a:spcAft>
                <a:spcPts val="0"/>
              </a:spcAft>
              <a:buSzPts val="800"/>
              <a:buChar char="●"/>
            </a:pPr>
            <a:r>
              <a:rPr lang="de" sz="1600"/>
              <a:t>Cryogenic vacuum extraction: water from the samples evaporates and freezes over cold trap</a:t>
            </a:r>
            <a:endParaRPr sz="1600"/>
          </a:p>
          <a:p>
            <a:pPr indent="-279400" lvl="0" marL="457200" rtl="0" algn="l">
              <a:spcBef>
                <a:spcPts val="0"/>
              </a:spcBef>
              <a:spcAft>
                <a:spcPts val="0"/>
              </a:spcAft>
              <a:buSzPts val="800"/>
              <a:buChar char="●"/>
            </a:pPr>
            <a:r>
              <a:rPr lang="de" sz="1600"/>
              <a:t>Laser spectroscopy (Picarro) </a:t>
            </a:r>
            <a:endParaRPr sz="16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Methods</a:t>
            </a:r>
            <a:endParaRPr/>
          </a:p>
        </p:txBody>
      </p:sp>
      <p:pic>
        <p:nvPicPr>
          <p:cNvPr id="108" name="Google Shape;108;p19" title="IMG_CB88E82EFC6B-1.jpeg"/>
          <p:cNvPicPr preferRelativeResize="0"/>
          <p:nvPr/>
        </p:nvPicPr>
        <p:blipFill rotWithShape="1">
          <a:blip r:embed="rId3">
            <a:alphaModFix/>
          </a:blip>
          <a:srcRect b="0" l="9322" r="0" t="13262"/>
          <a:stretch/>
        </p:blipFill>
        <p:spPr>
          <a:xfrm>
            <a:off x="6196519" y="2792734"/>
            <a:ext cx="1596526" cy="2036173"/>
          </a:xfrm>
          <a:prstGeom prst="rect">
            <a:avLst/>
          </a:prstGeom>
          <a:noFill/>
          <a:ln>
            <a:noFill/>
          </a:ln>
        </p:spPr>
      </p:pic>
      <p:pic>
        <p:nvPicPr>
          <p:cNvPr id="109" name="Google Shape;109;p19" title="IMG_686EBA96E0AE-1.jpeg"/>
          <p:cNvPicPr preferRelativeResize="0"/>
          <p:nvPr/>
        </p:nvPicPr>
        <p:blipFill rotWithShape="1">
          <a:blip r:embed="rId4">
            <a:alphaModFix/>
          </a:blip>
          <a:srcRect b="0" l="0" r="0" t="4352"/>
          <a:stretch/>
        </p:blipFill>
        <p:spPr>
          <a:xfrm>
            <a:off x="854019" y="2792733"/>
            <a:ext cx="1596526" cy="2036173"/>
          </a:xfrm>
          <a:prstGeom prst="rect">
            <a:avLst/>
          </a:prstGeom>
          <a:noFill/>
          <a:ln>
            <a:noFill/>
          </a:ln>
        </p:spPr>
      </p:pic>
      <p:pic>
        <p:nvPicPr>
          <p:cNvPr id="110" name="Google Shape;110;p19" title="Bildschirmfoto 2026-03-11 um 16.11.52.png"/>
          <p:cNvPicPr preferRelativeResize="0"/>
          <p:nvPr/>
        </p:nvPicPr>
        <p:blipFill rotWithShape="1">
          <a:blip r:embed="rId5">
            <a:alphaModFix/>
          </a:blip>
          <a:srcRect b="0" l="13562" r="0" t="0"/>
          <a:stretch/>
        </p:blipFill>
        <p:spPr>
          <a:xfrm>
            <a:off x="2619608" y="2792734"/>
            <a:ext cx="3407825" cy="2036174"/>
          </a:xfrm>
          <a:prstGeom prst="rect">
            <a:avLst/>
          </a:prstGeom>
          <a:noFill/>
          <a:ln>
            <a:noFill/>
          </a:ln>
        </p:spPr>
      </p:pic>
      <p:sp>
        <p:nvSpPr>
          <p:cNvPr id="111" name="Google Shape;11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0" title="2H_calib.png"/>
          <p:cNvPicPr preferRelativeResize="0"/>
          <p:nvPr/>
        </p:nvPicPr>
        <p:blipFill>
          <a:blip r:embed="rId3">
            <a:alphaModFix/>
          </a:blip>
          <a:stretch>
            <a:fillRect/>
          </a:stretch>
        </p:blipFill>
        <p:spPr>
          <a:xfrm>
            <a:off x="4648108" y="1437275"/>
            <a:ext cx="3595391" cy="2876325"/>
          </a:xfrm>
          <a:prstGeom prst="rect">
            <a:avLst/>
          </a:prstGeom>
          <a:noFill/>
          <a:ln>
            <a:noFill/>
          </a:ln>
        </p:spPr>
      </p:pic>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Methods</a:t>
            </a:r>
            <a:endParaRPr/>
          </a:p>
        </p:txBody>
      </p:sp>
      <p:sp>
        <p:nvSpPr>
          <p:cNvPr id="118" name="Google Shape;11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latin typeface="Open Sans"/>
                <a:ea typeface="Open Sans"/>
                <a:cs typeface="Open Sans"/>
                <a:sym typeface="Open Sans"/>
              </a:rPr>
              <a:t>Processing isotope measurements</a:t>
            </a:r>
            <a:endParaRPr b="1">
              <a:latin typeface="Open Sans"/>
              <a:ea typeface="Open Sans"/>
              <a:cs typeface="Open Sans"/>
              <a:sym typeface="Open Sans"/>
            </a:endParaRPr>
          </a:p>
          <a:p>
            <a:pPr indent="-342900" lvl="0" marL="457200" rtl="0" algn="l">
              <a:spcBef>
                <a:spcPts val="1200"/>
              </a:spcBef>
              <a:spcAft>
                <a:spcPts val="0"/>
              </a:spcAft>
              <a:buSzPts val="1800"/>
              <a:buFont typeface="Open Sans SemiBold"/>
              <a:buAutoNum type="arabicPeriod"/>
            </a:pPr>
            <a:r>
              <a:rPr lang="de">
                <a:latin typeface="Open Sans SemiBold"/>
                <a:ea typeface="Open Sans SemiBold"/>
                <a:cs typeface="Open Sans SemiBold"/>
                <a:sym typeface="Open Sans SemiBold"/>
              </a:rPr>
              <a:t>Calibration  </a:t>
            </a:r>
            <a:endParaRPr>
              <a:latin typeface="Open Sans SemiBold"/>
              <a:ea typeface="Open Sans SemiBold"/>
              <a:cs typeface="Open Sans SemiBold"/>
              <a:sym typeface="Open Sans SemiBold"/>
            </a:endParaRPr>
          </a:p>
          <a:p>
            <a:pPr indent="-317500" lvl="1" marL="914400" rtl="0" algn="l">
              <a:spcBef>
                <a:spcPts val="0"/>
              </a:spcBef>
              <a:spcAft>
                <a:spcPts val="0"/>
              </a:spcAft>
              <a:buSzPts val="1400"/>
              <a:buFont typeface="Open Sans"/>
              <a:buAutoNum type="alphaLcPeriod"/>
            </a:pPr>
            <a:r>
              <a:rPr lang="de">
                <a:latin typeface="Open Sans"/>
                <a:ea typeface="Open Sans"/>
                <a:cs typeface="Open Sans"/>
                <a:sym typeface="Open Sans"/>
              </a:rPr>
              <a:t>true 2H = 0.92(measured 2H) - 7.06  </a:t>
            </a:r>
            <a:endParaRPr>
              <a:latin typeface="Open Sans"/>
              <a:ea typeface="Open Sans"/>
              <a:cs typeface="Open Sans"/>
              <a:sym typeface="Open Sans"/>
            </a:endParaRPr>
          </a:p>
          <a:p>
            <a:pPr indent="-317500" lvl="1" marL="914400" rtl="0" algn="l">
              <a:spcBef>
                <a:spcPts val="0"/>
              </a:spcBef>
              <a:spcAft>
                <a:spcPts val="0"/>
              </a:spcAft>
              <a:buSzPts val="1400"/>
              <a:buAutoNum type="alphaLcPeriod"/>
            </a:pPr>
            <a:r>
              <a:rPr lang="de"/>
              <a:t>true 18O ~ 0.97(measured 18O) + 0.33</a:t>
            </a:r>
            <a:br>
              <a:rPr lang="de"/>
            </a:br>
            <a:endParaRPr/>
          </a:p>
          <a:p>
            <a:pPr indent="0" lvl="0" marL="0" rtl="0" algn="l">
              <a:spcBef>
                <a:spcPts val="1200"/>
              </a:spcBef>
              <a:spcAft>
                <a:spcPts val="1200"/>
              </a:spcAft>
              <a:buNone/>
            </a:pPr>
            <a:br>
              <a:rPr lang="de"/>
            </a:br>
            <a:r>
              <a:rPr lang="de"/>
              <a:t>    </a:t>
            </a:r>
            <a:endParaRPr/>
          </a:p>
        </p:txBody>
      </p:sp>
      <p:sp>
        <p:nvSpPr>
          <p:cNvPr id="119" name="Google Shape;11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1" title="2H_regression_v2.png"/>
          <p:cNvPicPr preferRelativeResize="0"/>
          <p:nvPr/>
        </p:nvPicPr>
        <p:blipFill>
          <a:blip r:embed="rId3">
            <a:alphaModFix/>
          </a:blip>
          <a:stretch>
            <a:fillRect/>
          </a:stretch>
        </p:blipFill>
        <p:spPr>
          <a:xfrm>
            <a:off x="4650950" y="1449825"/>
            <a:ext cx="3642626" cy="2914101"/>
          </a:xfrm>
          <a:prstGeom prst="rect">
            <a:avLst/>
          </a:prstGeom>
          <a:noFill/>
          <a:ln>
            <a:noFill/>
          </a:ln>
        </p:spPr>
      </p:pic>
      <p:sp>
        <p:nvSpPr>
          <p:cNvPr id="125" name="Google Shape;12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Methods</a:t>
            </a:r>
            <a:endParaRPr/>
          </a:p>
        </p:txBody>
      </p:sp>
      <p:sp>
        <p:nvSpPr>
          <p:cNvPr id="126" name="Google Shape;12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latin typeface="Open Sans"/>
                <a:ea typeface="Open Sans"/>
                <a:cs typeface="Open Sans"/>
                <a:sym typeface="Open Sans"/>
              </a:rPr>
              <a:t>Processing isotope measurements</a:t>
            </a:r>
            <a:endParaRPr b="1">
              <a:latin typeface="Open Sans"/>
              <a:ea typeface="Open Sans"/>
              <a:cs typeface="Open Sans"/>
              <a:sym typeface="Open Sans"/>
            </a:endParaRPr>
          </a:p>
          <a:p>
            <a:pPr indent="-342900" lvl="0" marL="457200" rtl="0" algn="l">
              <a:spcBef>
                <a:spcPts val="1200"/>
              </a:spcBef>
              <a:spcAft>
                <a:spcPts val="0"/>
              </a:spcAft>
              <a:buSzPts val="1800"/>
              <a:buAutoNum type="arabicPeriod"/>
            </a:pPr>
            <a:r>
              <a:rPr lang="de">
                <a:latin typeface="Open Sans"/>
                <a:ea typeface="Open Sans"/>
                <a:cs typeface="Open Sans"/>
                <a:sym typeface="Open Sans"/>
              </a:rPr>
              <a:t>Calibration</a:t>
            </a:r>
            <a:r>
              <a:rPr lang="de"/>
              <a:t>  </a:t>
            </a:r>
            <a:endParaRPr/>
          </a:p>
          <a:p>
            <a:pPr indent="-317500" lvl="1" marL="914400" rtl="0" algn="l">
              <a:spcBef>
                <a:spcPts val="0"/>
              </a:spcBef>
              <a:spcAft>
                <a:spcPts val="0"/>
              </a:spcAft>
              <a:buSzPts val="1400"/>
              <a:buAutoNum type="alphaLcPeriod"/>
            </a:pPr>
            <a:r>
              <a:rPr lang="de"/>
              <a:t>true 2H ~ 0.92 (measured 2H) - 7.06  </a:t>
            </a:r>
            <a:endParaRPr/>
          </a:p>
          <a:p>
            <a:pPr indent="-317500" lvl="1" marL="914400" rtl="0" algn="l">
              <a:spcBef>
                <a:spcPts val="0"/>
              </a:spcBef>
              <a:spcAft>
                <a:spcPts val="0"/>
              </a:spcAft>
              <a:buSzPts val="1400"/>
              <a:buAutoNum type="alphaLcPeriod"/>
            </a:pPr>
            <a:r>
              <a:rPr lang="de"/>
              <a:t>true 18O ~ 0.97 (measured 18O) + 0.33</a:t>
            </a:r>
            <a:br>
              <a:rPr lang="de"/>
            </a:br>
            <a:endParaRPr/>
          </a:p>
          <a:p>
            <a:pPr indent="-342900" lvl="0" marL="457200" rtl="0" algn="l">
              <a:spcBef>
                <a:spcPts val="0"/>
              </a:spcBef>
              <a:spcAft>
                <a:spcPts val="0"/>
              </a:spcAft>
              <a:buSzPts val="1800"/>
              <a:buFont typeface="Open Sans SemiBold"/>
              <a:buAutoNum type="arabicPeriod"/>
            </a:pPr>
            <a:r>
              <a:rPr lang="de">
                <a:latin typeface="Open Sans SemiBold"/>
                <a:ea typeface="Open Sans SemiBold"/>
                <a:cs typeface="Open Sans SemiBold"/>
                <a:sym typeface="Open Sans SemiBold"/>
              </a:rPr>
              <a:t>Drift correction</a:t>
            </a:r>
            <a:endParaRPr>
              <a:latin typeface="Open Sans SemiBold"/>
              <a:ea typeface="Open Sans SemiBold"/>
              <a:cs typeface="Open Sans SemiBold"/>
              <a:sym typeface="Open Sans SemiBold"/>
            </a:endParaRPr>
          </a:p>
          <a:p>
            <a:pPr indent="-317500" lvl="1" marL="914400" rtl="0" algn="l">
              <a:spcBef>
                <a:spcPts val="0"/>
              </a:spcBef>
              <a:spcAft>
                <a:spcPts val="0"/>
              </a:spcAft>
              <a:buSzPts val="1400"/>
              <a:buFont typeface="Open Sans"/>
              <a:buAutoNum type="alphaLcPeriod"/>
            </a:pPr>
            <a:r>
              <a:rPr lang="de">
                <a:latin typeface="Open Sans"/>
                <a:ea typeface="Open Sans"/>
                <a:cs typeface="Open Sans"/>
                <a:sym typeface="Open Sans"/>
              </a:rPr>
              <a:t>2H diff. ~ -0.26t + 0.002t² - 4.80</a:t>
            </a:r>
            <a:endParaRPr>
              <a:latin typeface="Open Sans"/>
              <a:ea typeface="Open Sans"/>
              <a:cs typeface="Open Sans"/>
              <a:sym typeface="Open Sans"/>
            </a:endParaRPr>
          </a:p>
          <a:p>
            <a:pPr indent="-317500" lvl="1" marL="914400" rtl="0" algn="l">
              <a:spcBef>
                <a:spcPts val="0"/>
              </a:spcBef>
              <a:spcAft>
                <a:spcPts val="0"/>
              </a:spcAft>
              <a:buSzPts val="1400"/>
              <a:buAutoNum type="alphaLcPeriod"/>
            </a:pPr>
            <a:r>
              <a:rPr lang="de"/>
              <a:t>18O diff. ~ -0.12t + 0.0005t² -1.08</a:t>
            </a:r>
            <a:br>
              <a:rPr lang="de"/>
            </a:br>
            <a:r>
              <a:rPr lang="de"/>
              <a:t>    </a:t>
            </a:r>
            <a:endParaRPr/>
          </a:p>
        </p:txBody>
      </p:sp>
      <p:sp>
        <p:nvSpPr>
          <p:cNvPr id="127" name="Google Shape;12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latin typeface="Open Sans"/>
                <a:ea typeface="Open Sans"/>
                <a:cs typeface="Open Sans"/>
                <a:sym typeface="Open Sans"/>
              </a:rPr>
              <a:t>Processing isotope measurements</a:t>
            </a:r>
            <a:endParaRPr b="1">
              <a:latin typeface="Open Sans"/>
              <a:ea typeface="Open Sans"/>
              <a:cs typeface="Open Sans"/>
              <a:sym typeface="Open Sans"/>
            </a:endParaRPr>
          </a:p>
          <a:p>
            <a:pPr indent="-342900" lvl="0" marL="457200" rtl="0" algn="l">
              <a:spcBef>
                <a:spcPts val="1200"/>
              </a:spcBef>
              <a:spcAft>
                <a:spcPts val="0"/>
              </a:spcAft>
              <a:buSzPts val="1800"/>
              <a:buAutoNum type="arabicPeriod"/>
            </a:pPr>
            <a:r>
              <a:rPr lang="de">
                <a:latin typeface="Open Sans"/>
                <a:ea typeface="Open Sans"/>
                <a:cs typeface="Open Sans"/>
                <a:sym typeface="Open Sans"/>
              </a:rPr>
              <a:t>Calibration</a:t>
            </a:r>
            <a:r>
              <a:rPr lang="de"/>
              <a:t>  </a:t>
            </a:r>
            <a:endParaRPr/>
          </a:p>
          <a:p>
            <a:pPr indent="-317500" lvl="1" marL="914400" rtl="0" algn="l">
              <a:spcBef>
                <a:spcPts val="0"/>
              </a:spcBef>
              <a:spcAft>
                <a:spcPts val="0"/>
              </a:spcAft>
              <a:buSzPts val="1400"/>
              <a:buAutoNum type="alphaLcPeriod"/>
            </a:pPr>
            <a:r>
              <a:rPr lang="de"/>
              <a:t>true 2H ~ 0.92 (measured 2H) - 7.06  </a:t>
            </a:r>
            <a:endParaRPr/>
          </a:p>
          <a:p>
            <a:pPr indent="-317500" lvl="1" marL="914400" rtl="0" algn="l">
              <a:spcBef>
                <a:spcPts val="0"/>
              </a:spcBef>
              <a:spcAft>
                <a:spcPts val="0"/>
              </a:spcAft>
              <a:buSzPts val="1400"/>
              <a:buAutoNum type="alphaLcPeriod"/>
            </a:pPr>
            <a:r>
              <a:rPr lang="de"/>
              <a:t>true 18O ~ 0.97 (measured 18O) + 0.33</a:t>
            </a:r>
            <a:br>
              <a:rPr lang="de"/>
            </a:br>
            <a:endParaRPr/>
          </a:p>
          <a:p>
            <a:pPr indent="-342900" lvl="0" marL="457200" rtl="0" algn="l">
              <a:spcBef>
                <a:spcPts val="0"/>
              </a:spcBef>
              <a:spcAft>
                <a:spcPts val="0"/>
              </a:spcAft>
              <a:buSzPts val="1800"/>
              <a:buAutoNum type="arabicPeriod"/>
            </a:pPr>
            <a:r>
              <a:rPr lang="de">
                <a:latin typeface="Open Sans"/>
                <a:ea typeface="Open Sans"/>
                <a:cs typeface="Open Sans"/>
                <a:sym typeface="Open Sans"/>
              </a:rPr>
              <a:t>Drift correction</a:t>
            </a:r>
            <a:endParaRPr>
              <a:latin typeface="Open Sans"/>
              <a:ea typeface="Open Sans"/>
              <a:cs typeface="Open Sans"/>
              <a:sym typeface="Open Sans"/>
            </a:endParaRPr>
          </a:p>
          <a:p>
            <a:pPr indent="-317500" lvl="1" marL="914400" rtl="0" algn="l">
              <a:spcBef>
                <a:spcPts val="0"/>
              </a:spcBef>
              <a:spcAft>
                <a:spcPts val="0"/>
              </a:spcAft>
              <a:buSzPts val="1400"/>
              <a:buAutoNum type="alphaLcPeriod"/>
            </a:pPr>
            <a:r>
              <a:rPr lang="de"/>
              <a:t>2H diff. ~ -0.26t + 0.002t² - 4.80</a:t>
            </a:r>
            <a:endParaRPr/>
          </a:p>
          <a:p>
            <a:pPr indent="-317500" lvl="1" marL="914400" rtl="0" algn="l">
              <a:spcBef>
                <a:spcPts val="0"/>
              </a:spcBef>
              <a:spcAft>
                <a:spcPts val="0"/>
              </a:spcAft>
              <a:buSzPts val="1400"/>
              <a:buAutoNum type="alphaLcPeriod"/>
            </a:pPr>
            <a:r>
              <a:rPr lang="de"/>
              <a:t>18O diff. ~ -0.12t + 0.0005t² -1.08</a:t>
            </a:r>
            <a:br>
              <a:rPr lang="de"/>
            </a:br>
            <a:endParaRPr/>
          </a:p>
          <a:p>
            <a:pPr indent="-342900" lvl="0" marL="457200" rtl="0" algn="l">
              <a:spcBef>
                <a:spcPts val="0"/>
              </a:spcBef>
              <a:spcAft>
                <a:spcPts val="0"/>
              </a:spcAft>
              <a:buSzPts val="1800"/>
              <a:buAutoNum type="arabicPeriod"/>
            </a:pPr>
            <a:r>
              <a:rPr lang="de">
                <a:latin typeface="Open Sans SemiBold"/>
                <a:ea typeface="Open Sans SemiBold"/>
                <a:cs typeface="Open Sans SemiBold"/>
                <a:sym typeface="Open Sans SemiBold"/>
              </a:rPr>
              <a:t>Calibration + Drift</a:t>
            </a:r>
            <a:br>
              <a:rPr lang="de">
                <a:latin typeface="Open Sans SemiBold"/>
                <a:ea typeface="Open Sans SemiBold"/>
                <a:cs typeface="Open Sans SemiBold"/>
                <a:sym typeface="Open Sans SemiBold"/>
              </a:rPr>
            </a:br>
            <a:r>
              <a:rPr lang="de">
                <a:latin typeface="Open Sans SemiBold"/>
                <a:ea typeface="Open Sans SemiBold"/>
                <a:cs typeface="Open Sans SemiBold"/>
                <a:sym typeface="Open Sans SemiBold"/>
              </a:rPr>
              <a:t>    </a:t>
            </a:r>
            <a:endParaRPr>
              <a:latin typeface="Open Sans SemiBold"/>
              <a:ea typeface="Open Sans SemiBold"/>
              <a:cs typeface="Open Sans SemiBold"/>
              <a:sym typeface="Open Sans SemiBold"/>
            </a:endParaRPr>
          </a:p>
        </p:txBody>
      </p:sp>
      <p:pic>
        <p:nvPicPr>
          <p:cNvPr id="133" name="Google Shape;133;p22" title="2H_standard_corr.png"/>
          <p:cNvPicPr preferRelativeResize="0"/>
          <p:nvPr/>
        </p:nvPicPr>
        <p:blipFill>
          <a:blip r:embed="rId3">
            <a:alphaModFix/>
          </a:blip>
          <a:stretch>
            <a:fillRect/>
          </a:stretch>
        </p:blipFill>
        <p:spPr>
          <a:xfrm>
            <a:off x="4650950" y="1415250"/>
            <a:ext cx="3821501" cy="3119049"/>
          </a:xfrm>
          <a:prstGeom prst="rect">
            <a:avLst/>
          </a:prstGeom>
          <a:noFill/>
          <a:ln>
            <a:noFill/>
          </a:ln>
        </p:spPr>
      </p:pic>
      <p:sp>
        <p:nvSpPr>
          <p:cNvPr id="134" name="Google Shape;13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Methods</a:t>
            </a:r>
            <a:endParaRPr/>
          </a:p>
        </p:txBody>
      </p:sp>
      <p:sp>
        <p:nvSpPr>
          <p:cNvPr id="135" name="Google Shape;13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36" name="Google Shape;136;p22"/>
          <p:cNvSpPr txBox="1"/>
          <p:nvPr/>
        </p:nvSpPr>
        <p:spPr>
          <a:xfrm>
            <a:off x="5220190" y="1175175"/>
            <a:ext cx="3154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de" sz="1200">
                <a:solidFill>
                  <a:srgbClr val="434343"/>
                </a:solidFill>
              </a:rPr>
              <a:t>Standard (heavy: </a:t>
            </a:r>
            <a:r>
              <a:rPr lang="de" sz="1200">
                <a:solidFill>
                  <a:srgbClr val="434343"/>
                </a:solidFill>
              </a:rPr>
              <a:t>-10.18‰)	</a:t>
            </a:r>
            <a:endParaRPr sz="1200">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Methods</a:t>
            </a:r>
            <a:endParaRPr/>
          </a:p>
        </p:txBody>
      </p:sp>
      <p:sp>
        <p:nvSpPr>
          <p:cNvPr id="142" name="Google Shape;142;p23"/>
          <p:cNvSpPr txBox="1"/>
          <p:nvPr>
            <p:ph idx="1" type="body"/>
          </p:nvPr>
        </p:nvSpPr>
        <p:spPr>
          <a:xfrm>
            <a:off x="311700" y="1152475"/>
            <a:ext cx="8520600" cy="390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latin typeface="Open Sans"/>
                <a:ea typeface="Open Sans"/>
                <a:cs typeface="Open Sans"/>
                <a:sym typeface="Open Sans"/>
              </a:rPr>
              <a:t>Estimating source contribution with mixing models</a:t>
            </a:r>
            <a:endParaRPr b="1">
              <a:latin typeface="Open Sans"/>
              <a:ea typeface="Open Sans"/>
              <a:cs typeface="Open Sans"/>
              <a:sym typeface="Open Sans"/>
            </a:endParaRPr>
          </a:p>
          <a:p>
            <a:pPr indent="-342900" lvl="0" marL="457200" rtl="0" algn="l">
              <a:spcBef>
                <a:spcPts val="1200"/>
              </a:spcBef>
              <a:spcAft>
                <a:spcPts val="0"/>
              </a:spcAft>
              <a:buSzPts val="1800"/>
              <a:buFont typeface="Open Sans"/>
              <a:buAutoNum type="arabicPeriod"/>
            </a:pPr>
            <a:r>
              <a:rPr lang="de">
                <a:latin typeface="Open Sans SemiBold"/>
                <a:ea typeface="Open Sans SemiBold"/>
                <a:cs typeface="Open Sans SemiBold"/>
                <a:sym typeface="Open Sans SemiBold"/>
              </a:rPr>
              <a:t>MixSIAR (Bayesian)</a:t>
            </a:r>
            <a:r>
              <a:rPr lang="de">
                <a:latin typeface="Open Sans"/>
                <a:ea typeface="Open Sans"/>
                <a:cs typeface="Open Sans"/>
                <a:sym typeface="Open Sans"/>
              </a:rPr>
              <a:t>  </a:t>
            </a:r>
            <a:r>
              <a:rPr lang="de"/>
              <a:t>Stock, Brian, et al. (2018)</a:t>
            </a:r>
            <a:endParaRPr/>
          </a:p>
          <a:p>
            <a:pPr indent="457200" lvl="0" marL="0" rtl="0" algn="l">
              <a:spcBef>
                <a:spcPts val="1200"/>
              </a:spcBef>
              <a:spcAft>
                <a:spcPts val="0"/>
              </a:spcAft>
              <a:buNone/>
            </a:pPr>
            <a:r>
              <a:rPr lang="de" sz="1600"/>
              <a:t>One model per day and species:  </a:t>
            </a:r>
            <a:br>
              <a:rPr lang="de" sz="1600">
                <a:latin typeface="Open Sans SemiBold"/>
                <a:ea typeface="Open Sans SemiBold"/>
                <a:cs typeface="Open Sans SemiBold"/>
                <a:sym typeface="Open Sans SemiBold"/>
              </a:rPr>
            </a:br>
            <a:r>
              <a:rPr lang="de" sz="1600">
                <a:latin typeface="Open Sans SemiBold"/>
                <a:ea typeface="Open Sans SemiBold"/>
                <a:cs typeface="Open Sans SemiBold"/>
                <a:sym typeface="Open Sans SemiBold"/>
              </a:rPr>
              <a:t>         </a:t>
            </a:r>
            <a:r>
              <a:rPr lang="de" sz="1600">
                <a:latin typeface="Open Sans Medium"/>
                <a:ea typeface="Open Sans Medium"/>
                <a:cs typeface="Open Sans Medium"/>
                <a:sym typeface="Open Sans Medium"/>
              </a:rPr>
              <a:t>sources</a:t>
            </a:r>
            <a:r>
              <a:rPr lang="de" sz="1600"/>
              <a:t> (soil, precipitation, label) → </a:t>
            </a:r>
            <a:r>
              <a:rPr lang="de" sz="1600">
                <a:latin typeface="Open Sans Medium"/>
                <a:ea typeface="Open Sans Medium"/>
                <a:cs typeface="Open Sans Medium"/>
                <a:sym typeface="Open Sans Medium"/>
              </a:rPr>
              <a:t>mixture</a:t>
            </a:r>
            <a:r>
              <a:rPr lang="de" sz="1600"/>
              <a:t> (2H, 18O of trees/height)</a:t>
            </a:r>
            <a:endParaRPr sz="1600">
              <a:latin typeface="Open Sans"/>
              <a:ea typeface="Open Sans"/>
              <a:cs typeface="Open Sans"/>
              <a:sym typeface="Open Sans"/>
            </a:endParaRPr>
          </a:p>
          <a:p>
            <a:pPr indent="-342900" lvl="0" marL="457200" rtl="0" algn="l">
              <a:spcBef>
                <a:spcPts val="1200"/>
              </a:spcBef>
              <a:spcAft>
                <a:spcPts val="0"/>
              </a:spcAft>
              <a:buSzPts val="1800"/>
              <a:buFont typeface="Open Sans"/>
              <a:buAutoNum type="arabicPeriod"/>
            </a:pPr>
            <a:r>
              <a:rPr lang="de">
                <a:latin typeface="Open Sans SemiBold"/>
                <a:ea typeface="Open Sans SemiBold"/>
                <a:cs typeface="Open Sans SemiBold"/>
                <a:sym typeface="Open Sans SemiBold"/>
              </a:rPr>
              <a:t>Mixing Equation</a:t>
            </a:r>
            <a:r>
              <a:rPr lang="de">
                <a:latin typeface="Open Sans"/>
                <a:ea typeface="Open Sans"/>
                <a:cs typeface="Open Sans"/>
                <a:sym typeface="Open Sans"/>
              </a:rPr>
              <a:t> </a:t>
            </a:r>
            <a:r>
              <a:rPr lang="de"/>
              <a:t>Kühnhammer et al. (2023)</a:t>
            </a:r>
            <a:endParaRPr/>
          </a:p>
          <a:p>
            <a:pPr indent="0" lvl="0" marL="457200" rtl="0" algn="l">
              <a:spcBef>
                <a:spcPts val="1200"/>
              </a:spcBef>
              <a:spcAft>
                <a:spcPts val="1200"/>
              </a:spcAft>
              <a:buNone/>
            </a:pPr>
            <a:r>
              <a:rPr lang="de" sz="1600"/>
              <a:t>Simple mixing equation using label and soil isotope signatures as sources for calculating the fraction of isotopic contribution:</a:t>
            </a:r>
            <a:r>
              <a:rPr lang="de">
                <a:latin typeface="Open Sans"/>
                <a:ea typeface="Open Sans"/>
                <a:cs typeface="Open Sans"/>
                <a:sym typeface="Open Sans"/>
              </a:rPr>
              <a:t> </a:t>
            </a:r>
            <a:endParaRPr>
              <a:latin typeface="Open Sans"/>
              <a:ea typeface="Open Sans"/>
              <a:cs typeface="Open Sans"/>
              <a:sym typeface="Open Sans"/>
            </a:endParaRPr>
          </a:p>
        </p:txBody>
      </p:sp>
      <p:sp>
        <p:nvSpPr>
          <p:cNvPr id="143" name="Google Shape;14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144" name="Google Shape;144;p23"/>
          <p:cNvPicPr preferRelativeResize="0"/>
          <p:nvPr/>
        </p:nvPicPr>
        <p:blipFill>
          <a:blip r:embed="rId3">
            <a:alphaModFix/>
          </a:blip>
          <a:stretch>
            <a:fillRect/>
          </a:stretch>
        </p:blipFill>
        <p:spPr>
          <a:xfrm>
            <a:off x="2724150" y="4055813"/>
            <a:ext cx="3695700" cy="809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80275" y="22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Meteorological conditions during the experiment</a:t>
            </a:r>
            <a:endParaRPr/>
          </a:p>
        </p:txBody>
      </p:sp>
      <p:pic>
        <p:nvPicPr>
          <p:cNvPr id="150" name="Google Shape;150;p24" title="environmental_data.jpeg"/>
          <p:cNvPicPr preferRelativeResize="0"/>
          <p:nvPr/>
        </p:nvPicPr>
        <p:blipFill>
          <a:blip r:embed="rId3">
            <a:alphaModFix/>
          </a:blip>
          <a:stretch>
            <a:fillRect/>
          </a:stretch>
        </p:blipFill>
        <p:spPr>
          <a:xfrm>
            <a:off x="311700" y="1358200"/>
            <a:ext cx="4593900" cy="3675126"/>
          </a:xfrm>
          <a:prstGeom prst="rect">
            <a:avLst/>
          </a:prstGeom>
          <a:noFill/>
          <a:ln>
            <a:noFill/>
          </a:ln>
        </p:spPr>
      </p:pic>
      <p:sp>
        <p:nvSpPr>
          <p:cNvPr id="151" name="Google Shape;151;p24"/>
          <p:cNvSpPr/>
          <p:nvPr/>
        </p:nvSpPr>
        <p:spPr>
          <a:xfrm>
            <a:off x="2004025" y="1434475"/>
            <a:ext cx="1504800" cy="30633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24"/>
          <p:cNvSpPr/>
          <p:nvPr/>
        </p:nvSpPr>
        <p:spPr>
          <a:xfrm rot="5400000">
            <a:off x="1682920" y="1207266"/>
            <a:ext cx="200100" cy="224700"/>
          </a:xfrm>
          <a:prstGeom prst="rightArrow">
            <a:avLst>
              <a:gd fmla="val 49199" name="adj1"/>
              <a:gd fmla="val 5000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4"/>
          <p:cNvSpPr txBox="1"/>
          <p:nvPr/>
        </p:nvSpPr>
        <p:spPr>
          <a:xfrm>
            <a:off x="3459500" y="1152475"/>
            <a:ext cx="1005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54" name="Google Shape;154;p24"/>
          <p:cNvSpPr txBox="1"/>
          <p:nvPr/>
        </p:nvSpPr>
        <p:spPr>
          <a:xfrm>
            <a:off x="1113332" y="1132877"/>
            <a:ext cx="5925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de" sz="1200">
                <a:solidFill>
                  <a:schemeClr val="accent1"/>
                </a:solidFill>
              </a:rPr>
              <a:t>Label</a:t>
            </a:r>
            <a:endParaRPr b="1" sz="1200">
              <a:solidFill>
                <a:schemeClr val="accent1"/>
              </a:solidFill>
            </a:endParaRPr>
          </a:p>
        </p:txBody>
      </p:sp>
      <p:sp>
        <p:nvSpPr>
          <p:cNvPr id="155" name="Google Shape;155;p24"/>
          <p:cNvSpPr txBox="1"/>
          <p:nvPr/>
        </p:nvSpPr>
        <p:spPr>
          <a:xfrm>
            <a:off x="2163025" y="880580"/>
            <a:ext cx="1186800" cy="62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de" sz="1200">
                <a:solidFill>
                  <a:schemeClr val="dk2"/>
                </a:solidFill>
              </a:rPr>
              <a:t>Measurement campaign</a:t>
            </a:r>
            <a:endParaRPr sz="1200">
              <a:solidFill>
                <a:schemeClr val="dk2"/>
              </a:solidFill>
            </a:endParaRPr>
          </a:p>
        </p:txBody>
      </p:sp>
      <p:sp>
        <p:nvSpPr>
          <p:cNvPr id="156" name="Google Shape;15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57" name="Google Shape;157;p24"/>
          <p:cNvSpPr txBox="1"/>
          <p:nvPr/>
        </p:nvSpPr>
        <p:spPr>
          <a:xfrm>
            <a:off x="5265350" y="2685313"/>
            <a:ext cx="3326400" cy="10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de" sz="1800">
                <a:solidFill>
                  <a:schemeClr val="dk2"/>
                </a:solidFill>
                <a:latin typeface="Open Sans"/>
                <a:ea typeface="Open Sans"/>
                <a:cs typeface="Open Sans"/>
                <a:sym typeface="Open Sans"/>
              </a:rPr>
              <a:t>Measurement campaign: </a:t>
            </a:r>
            <a:endParaRPr sz="1800">
              <a:solidFill>
                <a:schemeClr val="dk2"/>
              </a:solidFill>
              <a:latin typeface="Open Sans"/>
              <a:ea typeface="Open Sans"/>
              <a:cs typeface="Open Sans"/>
              <a:sym typeface="Open Sans"/>
            </a:endParaRPr>
          </a:p>
          <a:p>
            <a:pPr indent="-342900" lvl="0" marL="457200" rtl="0" algn="l">
              <a:spcBef>
                <a:spcPts val="0"/>
              </a:spcBef>
              <a:spcAft>
                <a:spcPts val="0"/>
              </a:spcAft>
              <a:buClr>
                <a:schemeClr val="dk2"/>
              </a:buClr>
              <a:buSzPts val="1800"/>
              <a:buFont typeface="Open Sans"/>
              <a:buChar char="-"/>
            </a:pPr>
            <a:r>
              <a:rPr lang="de" sz="1800">
                <a:solidFill>
                  <a:schemeClr val="dk2"/>
                </a:solidFill>
                <a:latin typeface="Open Sans"/>
                <a:ea typeface="Open Sans"/>
                <a:cs typeface="Open Sans"/>
                <a:sym typeface="Open Sans"/>
              </a:rPr>
              <a:t>Water potential </a:t>
            </a:r>
            <a:endParaRPr sz="1800">
              <a:solidFill>
                <a:schemeClr val="dk2"/>
              </a:solidFill>
              <a:latin typeface="Open Sans"/>
              <a:ea typeface="Open Sans"/>
              <a:cs typeface="Open Sans"/>
              <a:sym typeface="Open Sans"/>
            </a:endParaRPr>
          </a:p>
          <a:p>
            <a:pPr indent="-342900" lvl="0" marL="457200" rtl="0" algn="l">
              <a:spcBef>
                <a:spcPts val="0"/>
              </a:spcBef>
              <a:spcAft>
                <a:spcPts val="0"/>
              </a:spcAft>
              <a:buClr>
                <a:schemeClr val="dk2"/>
              </a:buClr>
              <a:buSzPts val="1800"/>
              <a:buFont typeface="Open Sans"/>
              <a:buChar char="-"/>
            </a:pPr>
            <a:r>
              <a:rPr lang="de" sz="1800">
                <a:solidFill>
                  <a:schemeClr val="dk2"/>
                </a:solidFill>
                <a:latin typeface="Open Sans"/>
                <a:ea typeface="Open Sans"/>
                <a:cs typeface="Open Sans"/>
                <a:sym typeface="Open Sans"/>
              </a:rPr>
              <a:t>Stable isotopes</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Water potential </a:t>
            </a:r>
            <a:endParaRPr/>
          </a:p>
        </p:txBody>
      </p:sp>
      <p:sp>
        <p:nvSpPr>
          <p:cNvPr id="163" name="Google Shape;163;p25"/>
          <p:cNvSpPr txBox="1"/>
          <p:nvPr>
            <p:ph idx="1" type="body"/>
          </p:nvPr>
        </p:nvSpPr>
        <p:spPr>
          <a:xfrm>
            <a:off x="6354000" y="1751989"/>
            <a:ext cx="2478300" cy="1627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de"/>
              <a:t>Measurements on shoots without active transpiration</a:t>
            </a:r>
            <a:endParaRPr/>
          </a:p>
        </p:txBody>
      </p:sp>
      <p:pic>
        <p:nvPicPr>
          <p:cNvPr id="164" name="Google Shape;164;p25" title="WP_timeseries_DoFr.jpeg"/>
          <p:cNvPicPr preferRelativeResize="0"/>
          <p:nvPr/>
        </p:nvPicPr>
        <p:blipFill>
          <a:blip r:embed="rId3">
            <a:alphaModFix/>
          </a:blip>
          <a:stretch>
            <a:fillRect/>
          </a:stretch>
        </p:blipFill>
        <p:spPr>
          <a:xfrm>
            <a:off x="417775" y="1099450"/>
            <a:ext cx="5777699" cy="3851799"/>
          </a:xfrm>
          <a:prstGeom prst="rect">
            <a:avLst/>
          </a:prstGeom>
          <a:noFill/>
          <a:ln>
            <a:noFill/>
          </a:ln>
        </p:spPr>
      </p:pic>
      <p:sp>
        <p:nvSpPr>
          <p:cNvPr id="165" name="Google Shape;16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166" name="Google Shape;166;p25" title="i Imple Water Balance Model(2).png"/>
          <p:cNvPicPr preferRelativeResize="0"/>
          <p:nvPr/>
        </p:nvPicPr>
        <p:blipFill>
          <a:blip r:embed="rId4">
            <a:alphaModFix/>
          </a:blip>
          <a:stretch>
            <a:fillRect/>
          </a:stretch>
        </p:blipFill>
        <p:spPr>
          <a:xfrm rot="999893">
            <a:off x="8305587" y="2441281"/>
            <a:ext cx="677887" cy="646088"/>
          </a:xfrm>
          <a:prstGeom prst="rect">
            <a:avLst/>
          </a:prstGeom>
          <a:noFill/>
          <a:ln>
            <a:noFill/>
          </a:ln>
        </p:spPr>
      </p:pic>
      <p:sp>
        <p:nvSpPr>
          <p:cNvPr id="167" name="Google Shape;167;p25"/>
          <p:cNvSpPr txBox="1"/>
          <p:nvPr>
            <p:ph idx="1" type="body"/>
          </p:nvPr>
        </p:nvSpPr>
        <p:spPr>
          <a:xfrm>
            <a:off x="6354000" y="3039552"/>
            <a:ext cx="2478300" cy="1627800"/>
          </a:xfrm>
          <a:prstGeom prst="rect">
            <a:avLst/>
          </a:prstGeom>
        </p:spPr>
        <p:txBody>
          <a:bodyPr anchorCtr="0" anchor="t" bIns="91425" lIns="91425" spcFirstLastPara="1" rIns="91425" wrap="square" tIns="91425">
            <a:normAutofit fontScale="85000"/>
          </a:bodyPr>
          <a:lstStyle/>
          <a:p>
            <a:pPr indent="0" lvl="0" marL="0" rtl="0" algn="ctr">
              <a:spcBef>
                <a:spcPts val="0"/>
              </a:spcBef>
              <a:spcAft>
                <a:spcPts val="1200"/>
              </a:spcAft>
              <a:buNone/>
            </a:pPr>
            <a:r>
              <a:rPr lang="de"/>
              <a:t>Douglas fir can allow lower Water Potential before </a:t>
            </a:r>
            <a:r>
              <a:rPr lang="de"/>
              <a:t>losing</a:t>
            </a:r>
            <a:r>
              <a:rPr lang="de"/>
              <a:t> </a:t>
            </a:r>
            <a:r>
              <a:rPr lang="de"/>
              <a:t>conductivity</a:t>
            </a:r>
            <a:r>
              <a:rPr lang="de"/>
              <a:t> compared to Scots Pine (Thomas et al. 2022)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Water Potential using optical dendrometers </a:t>
            </a:r>
            <a:endParaRPr/>
          </a:p>
        </p:txBody>
      </p:sp>
      <p:sp>
        <p:nvSpPr>
          <p:cNvPr id="173" name="Google Shape;17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4" name="Google Shape;174;p26" title="od_area_WP_upd.jpeg"/>
          <p:cNvPicPr preferRelativeResize="0"/>
          <p:nvPr/>
        </p:nvPicPr>
        <p:blipFill>
          <a:blip r:embed="rId3">
            <a:alphaModFix/>
          </a:blip>
          <a:stretch>
            <a:fillRect/>
          </a:stretch>
        </p:blipFill>
        <p:spPr>
          <a:xfrm>
            <a:off x="-4" y="1067825"/>
            <a:ext cx="4482101" cy="3585699"/>
          </a:xfrm>
          <a:prstGeom prst="rect">
            <a:avLst/>
          </a:prstGeom>
          <a:noFill/>
          <a:ln>
            <a:noFill/>
          </a:ln>
        </p:spPr>
      </p:pic>
      <p:pic>
        <p:nvPicPr>
          <p:cNvPr id="175" name="Google Shape;175;p26" title="WP_meas_od.jpeg"/>
          <p:cNvPicPr preferRelativeResize="0"/>
          <p:nvPr/>
        </p:nvPicPr>
        <p:blipFill>
          <a:blip r:embed="rId4">
            <a:alphaModFix/>
          </a:blip>
          <a:stretch>
            <a:fillRect/>
          </a:stretch>
        </p:blipFill>
        <p:spPr>
          <a:xfrm>
            <a:off x="4749800" y="1017725"/>
            <a:ext cx="4082501" cy="4082501"/>
          </a:xfrm>
          <a:prstGeom prst="rect">
            <a:avLst/>
          </a:prstGeom>
          <a:noFill/>
          <a:ln>
            <a:noFill/>
          </a:ln>
        </p:spPr>
      </p:pic>
      <p:sp>
        <p:nvSpPr>
          <p:cNvPr id="176" name="Google Shape;1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177" name="Google Shape;177;p26"/>
          <p:cNvSpPr txBox="1"/>
          <p:nvPr/>
        </p:nvSpPr>
        <p:spPr>
          <a:xfrm>
            <a:off x="104350" y="4777125"/>
            <a:ext cx="30000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de" sz="900">
                <a:solidFill>
                  <a:srgbClr val="333333"/>
                </a:solidFill>
                <a:latin typeface="Open Sans Light"/>
                <a:ea typeface="Open Sans Light"/>
                <a:cs typeface="Open Sans Light"/>
                <a:sym typeface="Open Sans Light"/>
              </a:rPr>
              <a:t>Bourbia &amp; Brodribb 2023</a:t>
            </a:r>
            <a:endParaRPr sz="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Sap flow</a:t>
            </a:r>
            <a:endParaRPr/>
          </a:p>
        </p:txBody>
      </p:sp>
      <p:pic>
        <p:nvPicPr>
          <p:cNvPr id="183" name="Google Shape;183;p27" title="sap_flow_temp_vpd.jpeg"/>
          <p:cNvPicPr preferRelativeResize="0"/>
          <p:nvPr/>
        </p:nvPicPr>
        <p:blipFill rotWithShape="1">
          <a:blip r:embed="rId3">
            <a:alphaModFix/>
          </a:blip>
          <a:srcRect b="0" l="0" r="0" t="0"/>
          <a:stretch/>
        </p:blipFill>
        <p:spPr>
          <a:xfrm>
            <a:off x="311697" y="1066625"/>
            <a:ext cx="4973374" cy="3978699"/>
          </a:xfrm>
          <a:prstGeom prst="rect">
            <a:avLst/>
          </a:prstGeom>
          <a:noFill/>
          <a:ln>
            <a:noFill/>
          </a:ln>
        </p:spPr>
      </p:pic>
      <p:sp>
        <p:nvSpPr>
          <p:cNvPr id="184" name="Google Shape;18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graphicFrame>
        <p:nvGraphicFramePr>
          <p:cNvPr id="185" name="Google Shape;185;p27"/>
          <p:cNvGraphicFramePr/>
          <p:nvPr/>
        </p:nvGraphicFramePr>
        <p:xfrm>
          <a:off x="5820725" y="1123325"/>
          <a:ext cx="3000000" cy="3000000"/>
        </p:xfrm>
        <a:graphic>
          <a:graphicData uri="http://schemas.openxmlformats.org/drawingml/2006/table">
            <a:tbl>
              <a:tblPr>
                <a:noFill/>
                <a:tableStyleId>{B1E721A2-12BA-4D2C-A3C7-E488E54E9686}</a:tableStyleId>
              </a:tblPr>
              <a:tblGrid>
                <a:gridCol w="900275"/>
                <a:gridCol w="539100"/>
                <a:gridCol w="866025"/>
              </a:tblGrid>
              <a:tr h="371650">
                <a:tc>
                  <a:txBody>
                    <a:bodyPr/>
                    <a:lstStyle/>
                    <a:p>
                      <a:pPr indent="0" lvl="0" marL="0" rtl="0" algn="l">
                        <a:lnSpc>
                          <a:spcPct val="50000"/>
                        </a:lnSpc>
                        <a:spcBef>
                          <a:spcPts val="0"/>
                        </a:spcBef>
                        <a:spcAft>
                          <a:spcPts val="0"/>
                        </a:spcAft>
                        <a:buNone/>
                      </a:pPr>
                      <a:r>
                        <a:rPr lang="de" sz="1000"/>
                        <a:t>Sap wood </a:t>
                      </a:r>
                      <a:endParaRPr sz="1000"/>
                    </a:p>
                    <a:p>
                      <a:pPr indent="0" lvl="0" marL="0" rtl="0" algn="l">
                        <a:lnSpc>
                          <a:spcPct val="50000"/>
                        </a:lnSpc>
                        <a:spcBef>
                          <a:spcPts val="0"/>
                        </a:spcBef>
                        <a:spcAft>
                          <a:spcPts val="0"/>
                        </a:spcAft>
                        <a:buNone/>
                      </a:pPr>
                      <a:r>
                        <a:t/>
                      </a:r>
                      <a:endParaRPr sz="1000"/>
                    </a:p>
                    <a:p>
                      <a:pPr indent="0" lvl="0" marL="0" rtl="0" algn="l">
                        <a:lnSpc>
                          <a:spcPct val="50000"/>
                        </a:lnSpc>
                        <a:spcBef>
                          <a:spcPts val="0"/>
                        </a:spcBef>
                        <a:spcAft>
                          <a:spcPts val="0"/>
                        </a:spcAft>
                        <a:buNone/>
                      </a:pPr>
                      <a:r>
                        <a:rPr lang="de" sz="1000"/>
                        <a:t>area (cm</a:t>
                      </a:r>
                      <a:r>
                        <a:rPr baseline="30000" lang="de" sz="1000"/>
                        <a:t>2</a:t>
                      </a:r>
                      <a:r>
                        <a:rPr lang="de" sz="1000"/>
                        <a:t>)</a:t>
                      </a:r>
                      <a:endParaRPr sz="1000"/>
                    </a:p>
                  </a:txBody>
                  <a:tcPr marT="91425" marB="91425" marR="91425" marL="91425"/>
                </a:tc>
                <a:tc>
                  <a:txBody>
                    <a:bodyPr/>
                    <a:lstStyle/>
                    <a:p>
                      <a:pPr indent="0" lvl="0" marL="0" rtl="0" algn="l">
                        <a:lnSpc>
                          <a:spcPct val="50000"/>
                        </a:lnSpc>
                        <a:spcBef>
                          <a:spcPts val="0"/>
                        </a:spcBef>
                        <a:spcAft>
                          <a:spcPts val="0"/>
                        </a:spcAft>
                        <a:buNone/>
                      </a:pPr>
                      <a:r>
                        <a:rPr lang="de" sz="1000"/>
                        <a:t>Pine</a:t>
                      </a:r>
                      <a:endParaRPr sz="1000"/>
                    </a:p>
                  </a:txBody>
                  <a:tcPr marT="91425" marB="91425" marR="91425" marL="91425"/>
                </a:tc>
                <a:tc>
                  <a:txBody>
                    <a:bodyPr/>
                    <a:lstStyle/>
                    <a:p>
                      <a:pPr indent="0" lvl="0" marL="0" rtl="0" algn="l">
                        <a:lnSpc>
                          <a:spcPct val="50000"/>
                        </a:lnSpc>
                        <a:spcBef>
                          <a:spcPts val="0"/>
                        </a:spcBef>
                        <a:spcAft>
                          <a:spcPts val="0"/>
                        </a:spcAft>
                        <a:buNone/>
                      </a:pPr>
                      <a:r>
                        <a:rPr lang="de" sz="1000"/>
                        <a:t>Douglas fir</a:t>
                      </a:r>
                      <a:endParaRPr sz="1000"/>
                    </a:p>
                  </a:txBody>
                  <a:tcPr marT="91425" marB="91425" marR="91425" marL="91425"/>
                </a:tc>
              </a:tr>
              <a:tr h="160500">
                <a:tc>
                  <a:txBody>
                    <a:bodyPr/>
                    <a:lstStyle/>
                    <a:p>
                      <a:pPr indent="0" lvl="0" marL="0" rtl="0" algn="l">
                        <a:lnSpc>
                          <a:spcPct val="50000"/>
                        </a:lnSpc>
                        <a:spcBef>
                          <a:spcPts val="0"/>
                        </a:spcBef>
                        <a:spcAft>
                          <a:spcPts val="0"/>
                        </a:spcAft>
                        <a:buNone/>
                      </a:pPr>
                      <a:r>
                        <a:rPr lang="de" sz="1000"/>
                        <a:t>1</a:t>
                      </a:r>
                      <a:endParaRPr sz="1000"/>
                    </a:p>
                  </a:txBody>
                  <a:tcPr marT="91425" marB="91425" marR="91425" marL="91425"/>
                </a:tc>
                <a:tc>
                  <a:txBody>
                    <a:bodyPr/>
                    <a:lstStyle/>
                    <a:p>
                      <a:pPr indent="0" lvl="0" marL="0" rtl="0" algn="l">
                        <a:lnSpc>
                          <a:spcPct val="50000"/>
                        </a:lnSpc>
                        <a:spcBef>
                          <a:spcPts val="0"/>
                        </a:spcBef>
                        <a:spcAft>
                          <a:spcPts val="0"/>
                        </a:spcAft>
                        <a:buNone/>
                      </a:pPr>
                      <a:r>
                        <a:rPr lang="de" sz="1000"/>
                        <a:t>18.10</a:t>
                      </a:r>
                      <a:endParaRPr sz="1000"/>
                    </a:p>
                  </a:txBody>
                  <a:tcPr marT="91425" marB="91425" marR="91425" marL="91425"/>
                </a:tc>
                <a:tc>
                  <a:txBody>
                    <a:bodyPr/>
                    <a:lstStyle/>
                    <a:p>
                      <a:pPr indent="0" lvl="0" marL="0" rtl="0" algn="l">
                        <a:lnSpc>
                          <a:spcPct val="50000"/>
                        </a:lnSpc>
                        <a:spcBef>
                          <a:spcPts val="0"/>
                        </a:spcBef>
                        <a:spcAft>
                          <a:spcPts val="0"/>
                        </a:spcAft>
                        <a:buNone/>
                      </a:pPr>
                      <a:r>
                        <a:rPr lang="de" sz="1000"/>
                        <a:t>17.35</a:t>
                      </a:r>
                      <a:endParaRPr sz="1000"/>
                    </a:p>
                  </a:txBody>
                  <a:tcPr marT="91425" marB="91425" marR="91425" marL="91425"/>
                </a:tc>
              </a:tr>
              <a:tr h="234000">
                <a:tc>
                  <a:txBody>
                    <a:bodyPr/>
                    <a:lstStyle/>
                    <a:p>
                      <a:pPr indent="0" lvl="0" marL="0" rtl="0" algn="l">
                        <a:lnSpc>
                          <a:spcPct val="50000"/>
                        </a:lnSpc>
                        <a:spcBef>
                          <a:spcPts val="0"/>
                        </a:spcBef>
                        <a:spcAft>
                          <a:spcPts val="0"/>
                        </a:spcAft>
                        <a:buNone/>
                      </a:pPr>
                      <a:r>
                        <a:rPr lang="de" sz="1000"/>
                        <a:t>2</a:t>
                      </a:r>
                      <a:endParaRPr sz="1000"/>
                    </a:p>
                  </a:txBody>
                  <a:tcPr marT="91425" marB="91425" marR="91425" marL="91425"/>
                </a:tc>
                <a:tc>
                  <a:txBody>
                    <a:bodyPr/>
                    <a:lstStyle/>
                    <a:p>
                      <a:pPr indent="0" lvl="0" marL="0" rtl="0" algn="l">
                        <a:lnSpc>
                          <a:spcPct val="50000"/>
                        </a:lnSpc>
                        <a:spcBef>
                          <a:spcPts val="0"/>
                        </a:spcBef>
                        <a:spcAft>
                          <a:spcPts val="0"/>
                        </a:spcAft>
                        <a:buNone/>
                      </a:pPr>
                      <a:r>
                        <a:rPr lang="de" sz="1000"/>
                        <a:t>16.62</a:t>
                      </a:r>
                      <a:endParaRPr sz="1000"/>
                    </a:p>
                  </a:txBody>
                  <a:tcPr marT="91425" marB="91425" marR="91425" marL="91425"/>
                </a:tc>
                <a:tc>
                  <a:txBody>
                    <a:bodyPr/>
                    <a:lstStyle/>
                    <a:p>
                      <a:pPr indent="0" lvl="0" marL="0" rtl="0" algn="l">
                        <a:lnSpc>
                          <a:spcPct val="50000"/>
                        </a:lnSpc>
                        <a:spcBef>
                          <a:spcPts val="0"/>
                        </a:spcBef>
                        <a:spcAft>
                          <a:spcPts val="0"/>
                        </a:spcAft>
                        <a:buNone/>
                      </a:pPr>
                      <a:r>
                        <a:rPr lang="de" sz="1000"/>
                        <a:t>31.17</a:t>
                      </a:r>
                      <a:endParaRPr sz="1000"/>
                    </a:p>
                  </a:txBody>
                  <a:tcPr marT="91425" marB="91425" marR="91425" marL="91425"/>
                </a:tc>
              </a:tr>
              <a:tr h="234000">
                <a:tc>
                  <a:txBody>
                    <a:bodyPr/>
                    <a:lstStyle/>
                    <a:p>
                      <a:pPr indent="0" lvl="0" marL="0" rtl="0" algn="l">
                        <a:lnSpc>
                          <a:spcPct val="50000"/>
                        </a:lnSpc>
                        <a:spcBef>
                          <a:spcPts val="0"/>
                        </a:spcBef>
                        <a:spcAft>
                          <a:spcPts val="0"/>
                        </a:spcAft>
                        <a:buNone/>
                      </a:pPr>
                      <a:r>
                        <a:rPr lang="de" sz="1000"/>
                        <a:t>3</a:t>
                      </a:r>
                      <a:endParaRPr sz="1000"/>
                    </a:p>
                  </a:txBody>
                  <a:tcPr marT="91425" marB="91425" marR="91425" marL="91425"/>
                </a:tc>
                <a:tc>
                  <a:txBody>
                    <a:bodyPr/>
                    <a:lstStyle/>
                    <a:p>
                      <a:pPr indent="0" lvl="0" marL="0" rtl="0" algn="l">
                        <a:lnSpc>
                          <a:spcPct val="50000"/>
                        </a:lnSpc>
                        <a:spcBef>
                          <a:spcPts val="0"/>
                        </a:spcBef>
                        <a:spcAft>
                          <a:spcPts val="0"/>
                        </a:spcAft>
                        <a:buNone/>
                      </a:pPr>
                      <a:r>
                        <a:rPr lang="de" sz="1000"/>
                        <a:t>20.43</a:t>
                      </a:r>
                      <a:endParaRPr sz="1000"/>
                    </a:p>
                  </a:txBody>
                  <a:tcPr marT="91425" marB="91425" marR="91425" marL="91425"/>
                </a:tc>
                <a:tc>
                  <a:txBody>
                    <a:bodyPr/>
                    <a:lstStyle/>
                    <a:p>
                      <a:pPr indent="0" lvl="0" marL="0" rtl="0" algn="l">
                        <a:lnSpc>
                          <a:spcPct val="50000"/>
                        </a:lnSpc>
                        <a:spcBef>
                          <a:spcPts val="0"/>
                        </a:spcBef>
                        <a:spcAft>
                          <a:spcPts val="0"/>
                        </a:spcAft>
                        <a:buNone/>
                      </a:pPr>
                      <a:r>
                        <a:rPr lang="de" sz="1000"/>
                        <a:t>20.43</a:t>
                      </a:r>
                      <a:endParaRPr sz="1000"/>
                    </a:p>
                  </a:txBody>
                  <a:tcPr marT="91425" marB="91425" marR="91425" marL="91425"/>
                </a:tc>
              </a:tr>
            </a:tbl>
          </a:graphicData>
        </a:graphic>
      </p:graphicFrame>
      <p:pic>
        <p:nvPicPr>
          <p:cNvPr id="186" name="Google Shape;186;p27" title="soil_moisture.jpeg"/>
          <p:cNvPicPr preferRelativeResize="0"/>
          <p:nvPr/>
        </p:nvPicPr>
        <p:blipFill>
          <a:blip r:embed="rId4">
            <a:alphaModFix/>
          </a:blip>
          <a:stretch>
            <a:fillRect/>
          </a:stretch>
        </p:blipFill>
        <p:spPr>
          <a:xfrm>
            <a:off x="5429800" y="2417525"/>
            <a:ext cx="3309949" cy="26479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Hypothesis 1 </a:t>
            </a:r>
            <a:endParaRPr/>
          </a:p>
        </p:txBody>
      </p:sp>
      <p:sp>
        <p:nvSpPr>
          <p:cNvPr id="192" name="Google Shape;19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highlight>
                <a:schemeClr val="accent6"/>
              </a:highlight>
            </a:endParaRPr>
          </a:p>
          <a:p>
            <a:pPr indent="0" lvl="0" marL="457200" rtl="0" algn="l">
              <a:spcBef>
                <a:spcPts val="1200"/>
              </a:spcBef>
              <a:spcAft>
                <a:spcPts val="0"/>
              </a:spcAft>
              <a:buClr>
                <a:schemeClr val="dk1"/>
              </a:buClr>
              <a:buSzPts val="1100"/>
              <a:buFont typeface="Arial"/>
              <a:buNone/>
            </a:pPr>
            <a:r>
              <a:rPr lang="de"/>
              <a:t>In the context of favorable environmental conditions we expect a pronounced diurnal course of plant activity and transpiration. </a:t>
            </a:r>
            <a:endParaRPr b="1">
              <a:highlight>
                <a:schemeClr val="accent6"/>
              </a:highlight>
            </a:endParaRPr>
          </a:p>
          <a:p>
            <a:pPr indent="0" lvl="0" marL="0" rtl="0" algn="l">
              <a:spcBef>
                <a:spcPts val="1200"/>
              </a:spcBef>
              <a:spcAft>
                <a:spcPts val="1200"/>
              </a:spcAft>
              <a:buClr>
                <a:schemeClr val="dk1"/>
              </a:buClr>
              <a:buSzPts val="1100"/>
              <a:buFont typeface="Arial"/>
              <a:buNone/>
            </a:pPr>
            <a:r>
              <a:t/>
            </a:r>
            <a:endParaRPr/>
          </a:p>
        </p:txBody>
      </p:sp>
      <p:sp>
        <p:nvSpPr>
          <p:cNvPr id="193" name="Google Shape;19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194" name="Google Shape;194;p28" title="Bildschirmfoto 2026-03-12 um 11.43.09.png"/>
          <p:cNvPicPr preferRelativeResize="0"/>
          <p:nvPr/>
        </p:nvPicPr>
        <p:blipFill>
          <a:blip r:embed="rId3">
            <a:alphaModFix/>
          </a:blip>
          <a:stretch>
            <a:fillRect/>
          </a:stretch>
        </p:blipFill>
        <p:spPr>
          <a:xfrm>
            <a:off x="7180500" y="2742053"/>
            <a:ext cx="978800" cy="880925"/>
          </a:xfrm>
          <a:prstGeom prst="rect">
            <a:avLst/>
          </a:prstGeom>
          <a:noFill/>
          <a:ln>
            <a:noFill/>
          </a:ln>
        </p:spPr>
      </p:pic>
      <p:sp>
        <p:nvSpPr>
          <p:cNvPr id="195" name="Google Shape;195;p28"/>
          <p:cNvSpPr txBox="1"/>
          <p:nvPr/>
        </p:nvSpPr>
        <p:spPr>
          <a:xfrm>
            <a:off x="917700" y="3622975"/>
            <a:ext cx="7071900" cy="50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de" sz="1800">
                <a:solidFill>
                  <a:srgbClr val="333333"/>
                </a:solidFill>
                <a:latin typeface="Open Sans Light"/>
                <a:ea typeface="Open Sans Light"/>
                <a:cs typeface="Open Sans Light"/>
                <a:sym typeface="Open Sans Light"/>
              </a:rPr>
              <a:t>→</a:t>
            </a:r>
            <a:r>
              <a:rPr lang="de" sz="1800">
                <a:solidFill>
                  <a:srgbClr val="333333"/>
                </a:solidFill>
                <a:latin typeface="Open Sans Light"/>
                <a:ea typeface="Open Sans Light"/>
                <a:cs typeface="Open Sans Light"/>
                <a:sym typeface="Open Sans Light"/>
              </a:rPr>
              <a:t> yes! but: Water potential no clear diurnal course in Pine trees</a:t>
            </a:r>
            <a:endParaRPr sz="1800">
              <a:solidFill>
                <a:srgbClr val="333333"/>
              </a:solidFill>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Label detection</a:t>
            </a:r>
            <a:endParaRPr/>
          </a:p>
        </p:txBody>
      </p:sp>
      <p:sp>
        <p:nvSpPr>
          <p:cNvPr id="201" name="Google Shape;201;p29"/>
          <p:cNvSpPr txBox="1"/>
          <p:nvPr>
            <p:ph idx="1" type="body"/>
          </p:nvPr>
        </p:nvSpPr>
        <p:spPr>
          <a:xfrm>
            <a:off x="258783" y="2411050"/>
            <a:ext cx="1513800" cy="104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400">
                <a:solidFill>
                  <a:srgbClr val="000000"/>
                </a:solidFill>
              </a:rPr>
              <a:t>Low ~ 40 cm</a:t>
            </a:r>
            <a:endParaRPr sz="1400">
              <a:solidFill>
                <a:srgbClr val="000000"/>
              </a:solidFill>
            </a:endParaRPr>
          </a:p>
          <a:p>
            <a:pPr indent="0" lvl="0" marL="0" rtl="0" algn="l">
              <a:spcBef>
                <a:spcPts val="1200"/>
              </a:spcBef>
              <a:spcAft>
                <a:spcPts val="0"/>
              </a:spcAft>
              <a:buNone/>
            </a:pPr>
            <a:r>
              <a:rPr lang="de" sz="1400">
                <a:solidFill>
                  <a:srgbClr val="000000"/>
                </a:solidFill>
              </a:rPr>
              <a:t>Mid ~ 100 cm</a:t>
            </a:r>
            <a:endParaRPr sz="1400">
              <a:solidFill>
                <a:srgbClr val="000000"/>
              </a:solidFill>
            </a:endParaRPr>
          </a:p>
          <a:p>
            <a:pPr indent="0" lvl="0" marL="0" rtl="0" algn="l">
              <a:spcBef>
                <a:spcPts val="1200"/>
              </a:spcBef>
              <a:spcAft>
                <a:spcPts val="1200"/>
              </a:spcAft>
              <a:buNone/>
            </a:pPr>
            <a:r>
              <a:rPr lang="de" sz="1400">
                <a:solidFill>
                  <a:srgbClr val="000000"/>
                </a:solidFill>
              </a:rPr>
              <a:t>High ~ 150 cm </a:t>
            </a:r>
            <a:endParaRPr sz="1400">
              <a:solidFill>
                <a:srgbClr val="000000"/>
              </a:solidFill>
            </a:endParaRPr>
          </a:p>
        </p:txBody>
      </p:sp>
      <p:grpSp>
        <p:nvGrpSpPr>
          <p:cNvPr id="202" name="Google Shape;202;p29"/>
          <p:cNvGrpSpPr/>
          <p:nvPr/>
        </p:nvGrpSpPr>
        <p:grpSpPr>
          <a:xfrm>
            <a:off x="1586692" y="1152475"/>
            <a:ext cx="6969916" cy="3976000"/>
            <a:chOff x="1533775" y="1152475"/>
            <a:chExt cx="6969916" cy="3976000"/>
          </a:xfrm>
        </p:grpSpPr>
        <p:pic>
          <p:nvPicPr>
            <p:cNvPr id="203" name="Google Shape;203;p29" title="DeltaDcorr_timeseries_box.jpeg"/>
            <p:cNvPicPr preferRelativeResize="0"/>
            <p:nvPr/>
          </p:nvPicPr>
          <p:blipFill rotWithShape="1">
            <a:blip r:embed="rId3">
              <a:alphaModFix/>
            </a:blip>
            <a:srcRect b="0" l="0" r="0" t="0"/>
            <a:stretch/>
          </p:blipFill>
          <p:spPr>
            <a:xfrm>
              <a:off x="1533775" y="1152475"/>
              <a:ext cx="5964000" cy="3976000"/>
            </a:xfrm>
            <a:prstGeom prst="rect">
              <a:avLst/>
            </a:prstGeom>
            <a:noFill/>
            <a:ln>
              <a:noFill/>
            </a:ln>
          </p:spPr>
        </p:pic>
        <p:pic>
          <p:nvPicPr>
            <p:cNvPr id="204" name="Google Shape;204;p29" title="DeltaDcorr_Soil_puddle.jpeg"/>
            <p:cNvPicPr preferRelativeResize="0"/>
            <p:nvPr/>
          </p:nvPicPr>
          <p:blipFill rotWithShape="1">
            <a:blip r:embed="rId4">
              <a:alphaModFix/>
            </a:blip>
            <a:srcRect b="0" l="36564" r="0" t="0"/>
            <a:stretch/>
          </p:blipFill>
          <p:spPr>
            <a:xfrm>
              <a:off x="7487715" y="1152475"/>
              <a:ext cx="1015975" cy="3416400"/>
            </a:xfrm>
            <a:prstGeom prst="rect">
              <a:avLst/>
            </a:prstGeom>
            <a:noFill/>
            <a:ln>
              <a:noFill/>
            </a:ln>
          </p:spPr>
        </p:pic>
      </p:grpSp>
      <p:sp>
        <p:nvSpPr>
          <p:cNvPr id="205" name="Google Shape;205;p29"/>
          <p:cNvSpPr/>
          <p:nvPr/>
        </p:nvSpPr>
        <p:spPr>
          <a:xfrm>
            <a:off x="3186392" y="1717150"/>
            <a:ext cx="635700" cy="2431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2900">
                <a:latin typeface="Lobster"/>
                <a:ea typeface="Lobster"/>
                <a:cs typeface="Lobster"/>
                <a:sym typeface="Lobster"/>
              </a:rPr>
              <a:t>?</a:t>
            </a:r>
            <a:endParaRPr sz="2900">
              <a:latin typeface="Lobster"/>
              <a:ea typeface="Lobster"/>
              <a:cs typeface="Lobster"/>
              <a:sym typeface="Lobster"/>
            </a:endParaRPr>
          </a:p>
        </p:txBody>
      </p:sp>
      <p:sp>
        <p:nvSpPr>
          <p:cNvPr id="206" name="Google Shape;206;p29"/>
          <p:cNvSpPr/>
          <p:nvPr/>
        </p:nvSpPr>
        <p:spPr>
          <a:xfrm>
            <a:off x="4000442" y="1717150"/>
            <a:ext cx="635700" cy="2431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2900">
                <a:latin typeface="Lobster"/>
                <a:ea typeface="Lobster"/>
                <a:cs typeface="Lobster"/>
                <a:sym typeface="Lobster"/>
              </a:rPr>
              <a:t>?</a:t>
            </a:r>
            <a:endParaRPr sz="2900">
              <a:latin typeface="Lobster"/>
              <a:ea typeface="Lobster"/>
              <a:cs typeface="Lobster"/>
              <a:sym typeface="Lobster"/>
            </a:endParaRPr>
          </a:p>
        </p:txBody>
      </p:sp>
      <p:sp>
        <p:nvSpPr>
          <p:cNvPr id="207" name="Google Shape;207;p29"/>
          <p:cNvSpPr/>
          <p:nvPr/>
        </p:nvSpPr>
        <p:spPr>
          <a:xfrm>
            <a:off x="5858967" y="1717154"/>
            <a:ext cx="635700" cy="2431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2900">
                <a:latin typeface="Lobster"/>
                <a:ea typeface="Lobster"/>
                <a:cs typeface="Lobster"/>
                <a:sym typeface="Lobster"/>
              </a:rPr>
              <a:t>?</a:t>
            </a:r>
            <a:endParaRPr sz="2900">
              <a:latin typeface="Lobster"/>
              <a:ea typeface="Lobster"/>
              <a:cs typeface="Lobster"/>
              <a:sym typeface="Lobster"/>
            </a:endParaRPr>
          </a:p>
        </p:txBody>
      </p:sp>
      <p:sp>
        <p:nvSpPr>
          <p:cNvPr id="208" name="Google Shape;208;p29"/>
          <p:cNvSpPr/>
          <p:nvPr/>
        </p:nvSpPr>
        <p:spPr>
          <a:xfrm>
            <a:off x="6673017" y="1717154"/>
            <a:ext cx="635700" cy="2431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2900">
                <a:latin typeface="Lobster"/>
                <a:ea typeface="Lobster"/>
                <a:cs typeface="Lobster"/>
                <a:sym typeface="Lobster"/>
              </a:rPr>
              <a:t>?</a:t>
            </a:r>
            <a:endParaRPr sz="2900">
              <a:latin typeface="Lobster"/>
              <a:ea typeface="Lobster"/>
              <a:cs typeface="Lobster"/>
              <a:sym typeface="Lobster"/>
            </a:endParaRPr>
          </a:p>
        </p:txBody>
      </p:sp>
      <p:sp>
        <p:nvSpPr>
          <p:cNvPr id="209" name="Google Shape;209;p29"/>
          <p:cNvSpPr txBox="1"/>
          <p:nvPr>
            <p:ph idx="12" type="sldNum"/>
          </p:nvPr>
        </p:nvSpPr>
        <p:spPr>
          <a:xfrm>
            <a:off x="8551833"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10" name="Google Shape;210;p29"/>
          <p:cNvSpPr/>
          <p:nvPr/>
        </p:nvSpPr>
        <p:spPr>
          <a:xfrm>
            <a:off x="5609700" y="4773175"/>
            <a:ext cx="8550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900">
                <a:highlight>
                  <a:schemeClr val="lt1"/>
                </a:highlight>
                <a:latin typeface="Open Sans SemiBold"/>
                <a:ea typeface="Open Sans SemiBold"/>
                <a:cs typeface="Open Sans SemiBold"/>
                <a:sym typeface="Open Sans SemiBold"/>
              </a:rPr>
              <a:t>pre-labeled</a:t>
            </a:r>
            <a:endParaRPr sz="900">
              <a:highlight>
                <a:schemeClr val="lt1"/>
              </a:highlight>
              <a:latin typeface="Open Sans SemiBold"/>
              <a:ea typeface="Open Sans SemiBold"/>
              <a:cs typeface="Open Sans SemiBold"/>
              <a:sym typeface="Open Sans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Label detection</a:t>
            </a:r>
            <a:endParaRPr/>
          </a:p>
        </p:txBody>
      </p:sp>
      <p:sp>
        <p:nvSpPr>
          <p:cNvPr id="216" name="Google Shape;21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17" name="Google Shape;217;p30"/>
          <p:cNvSpPr txBox="1"/>
          <p:nvPr>
            <p:ph idx="1" type="body"/>
          </p:nvPr>
        </p:nvSpPr>
        <p:spPr>
          <a:xfrm>
            <a:off x="258783" y="2411050"/>
            <a:ext cx="1513800" cy="104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400">
                <a:solidFill>
                  <a:srgbClr val="000000"/>
                </a:solidFill>
              </a:rPr>
              <a:t>Low ~ 40 cm</a:t>
            </a:r>
            <a:endParaRPr sz="1400">
              <a:solidFill>
                <a:srgbClr val="000000"/>
              </a:solidFill>
            </a:endParaRPr>
          </a:p>
          <a:p>
            <a:pPr indent="0" lvl="0" marL="0" rtl="0" algn="l">
              <a:spcBef>
                <a:spcPts val="1200"/>
              </a:spcBef>
              <a:spcAft>
                <a:spcPts val="0"/>
              </a:spcAft>
              <a:buNone/>
            </a:pPr>
            <a:r>
              <a:rPr lang="de" sz="1400">
                <a:solidFill>
                  <a:srgbClr val="000000"/>
                </a:solidFill>
              </a:rPr>
              <a:t>Mid ~ 100 cm</a:t>
            </a:r>
            <a:endParaRPr sz="1400">
              <a:solidFill>
                <a:srgbClr val="000000"/>
              </a:solidFill>
            </a:endParaRPr>
          </a:p>
          <a:p>
            <a:pPr indent="0" lvl="0" marL="0" rtl="0" algn="l">
              <a:spcBef>
                <a:spcPts val="1200"/>
              </a:spcBef>
              <a:spcAft>
                <a:spcPts val="1200"/>
              </a:spcAft>
              <a:buNone/>
            </a:pPr>
            <a:r>
              <a:rPr lang="de" sz="1400">
                <a:solidFill>
                  <a:srgbClr val="000000"/>
                </a:solidFill>
              </a:rPr>
              <a:t>High ~ 150 cm </a:t>
            </a:r>
            <a:endParaRPr sz="1400">
              <a:solidFill>
                <a:srgbClr val="000000"/>
              </a:solidFill>
            </a:endParaRPr>
          </a:p>
        </p:txBody>
      </p:sp>
      <p:grpSp>
        <p:nvGrpSpPr>
          <p:cNvPr id="218" name="Google Shape;218;p30"/>
          <p:cNvGrpSpPr/>
          <p:nvPr/>
        </p:nvGrpSpPr>
        <p:grpSpPr>
          <a:xfrm>
            <a:off x="1586692" y="1152475"/>
            <a:ext cx="6969916" cy="3976000"/>
            <a:chOff x="1533775" y="1152475"/>
            <a:chExt cx="6969916" cy="3976000"/>
          </a:xfrm>
        </p:grpSpPr>
        <p:pic>
          <p:nvPicPr>
            <p:cNvPr id="219" name="Google Shape;219;p30" title="DeltaDcorr_timeseries_box.jpeg"/>
            <p:cNvPicPr preferRelativeResize="0"/>
            <p:nvPr/>
          </p:nvPicPr>
          <p:blipFill rotWithShape="1">
            <a:blip r:embed="rId3">
              <a:alphaModFix/>
            </a:blip>
            <a:srcRect b="0" l="0" r="0" t="0"/>
            <a:stretch/>
          </p:blipFill>
          <p:spPr>
            <a:xfrm>
              <a:off x="1533775" y="1152475"/>
              <a:ext cx="5964000" cy="3976000"/>
            </a:xfrm>
            <a:prstGeom prst="rect">
              <a:avLst/>
            </a:prstGeom>
            <a:noFill/>
            <a:ln>
              <a:noFill/>
            </a:ln>
          </p:spPr>
        </p:pic>
        <p:pic>
          <p:nvPicPr>
            <p:cNvPr id="220" name="Google Shape;220;p30" title="DeltaDcorr_Soil_puddle.jpeg"/>
            <p:cNvPicPr preferRelativeResize="0"/>
            <p:nvPr/>
          </p:nvPicPr>
          <p:blipFill rotWithShape="1">
            <a:blip r:embed="rId4">
              <a:alphaModFix/>
            </a:blip>
            <a:srcRect b="0" l="36564" r="0" t="0"/>
            <a:stretch/>
          </p:blipFill>
          <p:spPr>
            <a:xfrm>
              <a:off x="7487715" y="1152475"/>
              <a:ext cx="1015975" cy="3416400"/>
            </a:xfrm>
            <a:prstGeom prst="rect">
              <a:avLst/>
            </a:prstGeom>
            <a:noFill/>
            <a:ln>
              <a:noFill/>
            </a:ln>
          </p:spPr>
        </p:pic>
      </p:grpSp>
      <p:sp>
        <p:nvSpPr>
          <p:cNvPr id="221" name="Google Shape;221;p30"/>
          <p:cNvSpPr/>
          <p:nvPr/>
        </p:nvSpPr>
        <p:spPr>
          <a:xfrm>
            <a:off x="4000442" y="1717150"/>
            <a:ext cx="635700" cy="2431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2900">
                <a:latin typeface="Lobster"/>
                <a:ea typeface="Lobster"/>
                <a:cs typeface="Lobster"/>
                <a:sym typeface="Lobster"/>
              </a:rPr>
              <a:t>?</a:t>
            </a:r>
            <a:endParaRPr sz="2900">
              <a:latin typeface="Lobster"/>
              <a:ea typeface="Lobster"/>
              <a:cs typeface="Lobster"/>
              <a:sym typeface="Lobster"/>
            </a:endParaRPr>
          </a:p>
        </p:txBody>
      </p:sp>
      <p:sp>
        <p:nvSpPr>
          <p:cNvPr id="222" name="Google Shape;222;p30"/>
          <p:cNvSpPr/>
          <p:nvPr/>
        </p:nvSpPr>
        <p:spPr>
          <a:xfrm>
            <a:off x="6673017" y="1717154"/>
            <a:ext cx="635700" cy="2431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2900">
                <a:latin typeface="Lobster"/>
                <a:ea typeface="Lobster"/>
                <a:cs typeface="Lobster"/>
                <a:sym typeface="Lobster"/>
              </a:rPr>
              <a:t>?</a:t>
            </a:r>
            <a:endParaRPr sz="2900">
              <a:latin typeface="Lobster"/>
              <a:ea typeface="Lobster"/>
              <a:cs typeface="Lobster"/>
              <a:sym typeface="Lobster"/>
            </a:endParaRPr>
          </a:p>
        </p:txBody>
      </p:sp>
      <p:sp>
        <p:nvSpPr>
          <p:cNvPr id="223" name="Google Shape;223;p30"/>
          <p:cNvSpPr/>
          <p:nvPr/>
        </p:nvSpPr>
        <p:spPr>
          <a:xfrm>
            <a:off x="5609700" y="4773175"/>
            <a:ext cx="8550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900">
                <a:highlight>
                  <a:schemeClr val="lt1"/>
                </a:highlight>
                <a:latin typeface="Open Sans SemiBold"/>
                <a:ea typeface="Open Sans SemiBold"/>
                <a:cs typeface="Open Sans SemiBold"/>
                <a:sym typeface="Open Sans SemiBold"/>
              </a:rPr>
              <a:t>pre-labeled</a:t>
            </a:r>
            <a:endParaRPr sz="900">
              <a:highlight>
                <a:schemeClr val="lt1"/>
              </a:highlight>
              <a:latin typeface="Open Sans SemiBold"/>
              <a:ea typeface="Open Sans SemiBold"/>
              <a:cs typeface="Open Sans SemiBold"/>
              <a:sym typeface="Open Sans Semi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Label detection</a:t>
            </a:r>
            <a:endParaRPr/>
          </a:p>
        </p:txBody>
      </p:sp>
      <p:sp>
        <p:nvSpPr>
          <p:cNvPr id="229" name="Google Shape;229;p31"/>
          <p:cNvSpPr txBox="1"/>
          <p:nvPr>
            <p:ph idx="1" type="body"/>
          </p:nvPr>
        </p:nvSpPr>
        <p:spPr>
          <a:xfrm>
            <a:off x="258783" y="2411050"/>
            <a:ext cx="1513800" cy="104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400">
                <a:solidFill>
                  <a:srgbClr val="000000"/>
                </a:solidFill>
              </a:rPr>
              <a:t>Low ~ 40 cm</a:t>
            </a:r>
            <a:endParaRPr sz="1400">
              <a:solidFill>
                <a:srgbClr val="000000"/>
              </a:solidFill>
            </a:endParaRPr>
          </a:p>
          <a:p>
            <a:pPr indent="0" lvl="0" marL="0" rtl="0" algn="l">
              <a:spcBef>
                <a:spcPts val="1200"/>
              </a:spcBef>
              <a:spcAft>
                <a:spcPts val="0"/>
              </a:spcAft>
              <a:buNone/>
            </a:pPr>
            <a:r>
              <a:rPr lang="de" sz="1400">
                <a:solidFill>
                  <a:srgbClr val="000000"/>
                </a:solidFill>
              </a:rPr>
              <a:t>Mid ~ 100 cm</a:t>
            </a:r>
            <a:endParaRPr sz="1400">
              <a:solidFill>
                <a:srgbClr val="000000"/>
              </a:solidFill>
            </a:endParaRPr>
          </a:p>
          <a:p>
            <a:pPr indent="0" lvl="0" marL="0" rtl="0" algn="l">
              <a:spcBef>
                <a:spcPts val="1200"/>
              </a:spcBef>
              <a:spcAft>
                <a:spcPts val="1200"/>
              </a:spcAft>
              <a:buNone/>
            </a:pPr>
            <a:r>
              <a:rPr lang="de" sz="1400">
                <a:solidFill>
                  <a:srgbClr val="000000"/>
                </a:solidFill>
              </a:rPr>
              <a:t>High ~ 150 cm </a:t>
            </a:r>
            <a:endParaRPr sz="1400">
              <a:solidFill>
                <a:srgbClr val="000000"/>
              </a:solidFill>
            </a:endParaRPr>
          </a:p>
        </p:txBody>
      </p:sp>
      <p:grpSp>
        <p:nvGrpSpPr>
          <p:cNvPr id="230" name="Google Shape;230;p31"/>
          <p:cNvGrpSpPr/>
          <p:nvPr/>
        </p:nvGrpSpPr>
        <p:grpSpPr>
          <a:xfrm>
            <a:off x="1586692" y="1152475"/>
            <a:ext cx="6969916" cy="3976000"/>
            <a:chOff x="1533775" y="1152475"/>
            <a:chExt cx="6969916" cy="3976000"/>
          </a:xfrm>
        </p:grpSpPr>
        <p:pic>
          <p:nvPicPr>
            <p:cNvPr id="231" name="Google Shape;231;p31" title="DeltaDcorr_timeseries_box.jpeg"/>
            <p:cNvPicPr preferRelativeResize="0"/>
            <p:nvPr/>
          </p:nvPicPr>
          <p:blipFill rotWithShape="1">
            <a:blip r:embed="rId3">
              <a:alphaModFix/>
            </a:blip>
            <a:srcRect b="0" l="0" r="0" t="0"/>
            <a:stretch/>
          </p:blipFill>
          <p:spPr>
            <a:xfrm>
              <a:off x="1533775" y="1152475"/>
              <a:ext cx="5964000" cy="3976000"/>
            </a:xfrm>
            <a:prstGeom prst="rect">
              <a:avLst/>
            </a:prstGeom>
            <a:noFill/>
            <a:ln>
              <a:noFill/>
            </a:ln>
          </p:spPr>
        </p:pic>
        <p:pic>
          <p:nvPicPr>
            <p:cNvPr id="232" name="Google Shape;232;p31" title="DeltaDcorr_Soil_puddle.jpeg"/>
            <p:cNvPicPr preferRelativeResize="0"/>
            <p:nvPr/>
          </p:nvPicPr>
          <p:blipFill rotWithShape="1">
            <a:blip r:embed="rId4">
              <a:alphaModFix/>
            </a:blip>
            <a:srcRect b="0" l="36564" r="0" t="0"/>
            <a:stretch/>
          </p:blipFill>
          <p:spPr>
            <a:xfrm>
              <a:off x="7487715" y="1152475"/>
              <a:ext cx="1015975" cy="3416400"/>
            </a:xfrm>
            <a:prstGeom prst="rect">
              <a:avLst/>
            </a:prstGeom>
            <a:noFill/>
            <a:ln>
              <a:noFill/>
            </a:ln>
          </p:spPr>
        </p:pic>
      </p:grpSp>
      <p:sp>
        <p:nvSpPr>
          <p:cNvPr id="233" name="Google Shape;233;p31"/>
          <p:cNvSpPr/>
          <p:nvPr/>
        </p:nvSpPr>
        <p:spPr>
          <a:xfrm>
            <a:off x="5609700" y="4773175"/>
            <a:ext cx="8550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900">
                <a:highlight>
                  <a:schemeClr val="lt1"/>
                </a:highlight>
                <a:latin typeface="Open Sans SemiBold"/>
                <a:ea typeface="Open Sans SemiBold"/>
                <a:cs typeface="Open Sans SemiBold"/>
                <a:sym typeface="Open Sans SemiBold"/>
              </a:rPr>
              <a:t>pre-labeled</a:t>
            </a:r>
            <a:endParaRPr sz="900">
              <a:highlight>
                <a:schemeClr val="lt1"/>
              </a:highlight>
              <a:latin typeface="Open Sans SemiBold"/>
              <a:ea typeface="Open Sans SemiBold"/>
              <a:cs typeface="Open Sans SemiBold"/>
              <a:sym typeface="Open Sans Semi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Source contribution (MixSIAR)</a:t>
            </a:r>
            <a:endParaRPr sz="2700">
              <a:latin typeface="Open Sans"/>
              <a:ea typeface="Open Sans"/>
              <a:cs typeface="Open Sans"/>
              <a:sym typeface="Open Sans"/>
            </a:endParaRPr>
          </a:p>
        </p:txBody>
      </p:sp>
      <p:sp>
        <p:nvSpPr>
          <p:cNvPr id="239" name="Google Shape;23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40" name="Google Shape;240;p32"/>
          <p:cNvSpPr txBox="1"/>
          <p:nvPr/>
        </p:nvSpPr>
        <p:spPr>
          <a:xfrm>
            <a:off x="311701" y="1062350"/>
            <a:ext cx="6726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de" sz="1600">
                <a:solidFill>
                  <a:srgbClr val="333333"/>
                </a:solidFill>
                <a:latin typeface="Open Sans"/>
                <a:ea typeface="Open Sans"/>
                <a:cs typeface="Open Sans"/>
                <a:sym typeface="Open Sans"/>
              </a:rPr>
              <a:t>Average contribution (2026-02-27)</a:t>
            </a:r>
            <a:endParaRPr sz="1600">
              <a:solidFill>
                <a:srgbClr val="333333"/>
              </a:solidFill>
              <a:highlight>
                <a:schemeClr val="accent6"/>
              </a:highlight>
              <a:latin typeface="Open Sans"/>
              <a:ea typeface="Open Sans"/>
              <a:cs typeface="Open Sans"/>
              <a:sym typeface="Open Sans"/>
            </a:endParaRPr>
          </a:p>
        </p:txBody>
      </p:sp>
      <p:grpSp>
        <p:nvGrpSpPr>
          <p:cNvPr id="241" name="Google Shape;241;p32"/>
          <p:cNvGrpSpPr/>
          <p:nvPr/>
        </p:nvGrpSpPr>
        <p:grpSpPr>
          <a:xfrm>
            <a:off x="3777468" y="1570173"/>
            <a:ext cx="4187659" cy="2781800"/>
            <a:chOff x="384843" y="1590135"/>
            <a:chExt cx="4187659" cy="2781800"/>
          </a:xfrm>
        </p:grpSpPr>
        <p:pic>
          <p:nvPicPr>
            <p:cNvPr id="242" name="Google Shape;242;p32" title="Points scored"/>
            <p:cNvPicPr preferRelativeResize="0"/>
            <p:nvPr/>
          </p:nvPicPr>
          <p:blipFill rotWithShape="1">
            <a:blip r:embed="rId3">
              <a:alphaModFix/>
            </a:blip>
            <a:srcRect b="0" l="0" r="22161" t="0"/>
            <a:stretch/>
          </p:blipFill>
          <p:spPr>
            <a:xfrm>
              <a:off x="384843" y="1590135"/>
              <a:ext cx="2893425" cy="2781800"/>
            </a:xfrm>
            <a:prstGeom prst="rect">
              <a:avLst/>
            </a:prstGeom>
            <a:noFill/>
            <a:ln>
              <a:noFill/>
            </a:ln>
          </p:spPr>
        </p:pic>
        <p:sp>
          <p:nvSpPr>
            <p:cNvPr id="243" name="Google Shape;243;p32"/>
            <p:cNvSpPr txBox="1"/>
            <p:nvPr/>
          </p:nvSpPr>
          <p:spPr>
            <a:xfrm>
              <a:off x="899909" y="3487363"/>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95</a:t>
              </a:r>
              <a:r>
                <a:rPr lang="de"/>
                <a:t>.7%</a:t>
              </a:r>
              <a:endParaRPr/>
            </a:p>
          </p:txBody>
        </p:sp>
        <p:sp>
          <p:nvSpPr>
            <p:cNvPr id="244" name="Google Shape;244;p32"/>
            <p:cNvSpPr txBox="1"/>
            <p:nvPr/>
          </p:nvSpPr>
          <p:spPr>
            <a:xfrm>
              <a:off x="1572501" y="182797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4.3%</a:t>
              </a:r>
              <a:endParaRPr/>
            </a:p>
          </p:txBody>
        </p:sp>
      </p:grpSp>
      <p:grpSp>
        <p:nvGrpSpPr>
          <p:cNvPr id="245" name="Google Shape;245;p32"/>
          <p:cNvGrpSpPr/>
          <p:nvPr/>
        </p:nvGrpSpPr>
        <p:grpSpPr>
          <a:xfrm>
            <a:off x="384857" y="1570182"/>
            <a:ext cx="4844680" cy="2781775"/>
            <a:chOff x="3179307" y="1600850"/>
            <a:chExt cx="4844680" cy="2781775"/>
          </a:xfrm>
        </p:grpSpPr>
        <p:pic>
          <p:nvPicPr>
            <p:cNvPr id="246" name="Google Shape;246;p32" title="Points scored"/>
            <p:cNvPicPr preferRelativeResize="0"/>
            <p:nvPr/>
          </p:nvPicPr>
          <p:blipFill rotWithShape="1">
            <a:blip r:embed="rId4">
              <a:alphaModFix/>
            </a:blip>
            <a:srcRect b="0" l="0" r="20395" t="0"/>
            <a:stretch/>
          </p:blipFill>
          <p:spPr>
            <a:xfrm>
              <a:off x="3179307" y="1600850"/>
              <a:ext cx="2959026" cy="2781775"/>
            </a:xfrm>
            <a:prstGeom prst="rect">
              <a:avLst/>
            </a:prstGeom>
            <a:noFill/>
            <a:ln>
              <a:noFill/>
            </a:ln>
          </p:spPr>
        </p:pic>
        <p:sp>
          <p:nvSpPr>
            <p:cNvPr id="247" name="Google Shape;247;p32"/>
            <p:cNvSpPr txBox="1"/>
            <p:nvPr/>
          </p:nvSpPr>
          <p:spPr>
            <a:xfrm>
              <a:off x="3708653" y="3487386"/>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89.2%</a:t>
              </a:r>
              <a:endParaRPr/>
            </a:p>
          </p:txBody>
        </p:sp>
        <p:sp>
          <p:nvSpPr>
            <p:cNvPr id="248" name="Google Shape;248;p32"/>
            <p:cNvSpPr txBox="1"/>
            <p:nvPr/>
          </p:nvSpPr>
          <p:spPr>
            <a:xfrm>
              <a:off x="3901278" y="1991542"/>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10.4%</a:t>
              </a:r>
              <a:endParaRPr/>
            </a:p>
          </p:txBody>
        </p:sp>
        <p:sp>
          <p:nvSpPr>
            <p:cNvPr id="249" name="Google Shape;249;p32"/>
            <p:cNvSpPr txBox="1"/>
            <p:nvPr/>
          </p:nvSpPr>
          <p:spPr>
            <a:xfrm>
              <a:off x="5023986" y="1735541"/>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0.6%</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3" name="Shape 253"/>
        <p:cNvGrpSpPr/>
        <p:nvPr/>
      </p:nvGrpSpPr>
      <p:grpSpPr>
        <a:xfrm>
          <a:off x="0" y="0"/>
          <a:ext cx="0" cy="0"/>
          <a:chOff x="0" y="0"/>
          <a:chExt cx="0" cy="0"/>
        </a:xfrm>
      </p:grpSpPr>
      <p:sp>
        <p:nvSpPr>
          <p:cNvPr id="254" name="Google Shape;25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Source contribution (MixSIAR)</a:t>
            </a:r>
            <a:endParaRPr sz="2700">
              <a:latin typeface="Open Sans"/>
              <a:ea typeface="Open Sans"/>
              <a:cs typeface="Open Sans"/>
              <a:sym typeface="Open Sans"/>
            </a:endParaRPr>
          </a:p>
        </p:txBody>
      </p:sp>
      <p:graphicFrame>
        <p:nvGraphicFramePr>
          <p:cNvPr id="255" name="Google Shape;255;p33"/>
          <p:cNvGraphicFramePr/>
          <p:nvPr/>
        </p:nvGraphicFramePr>
        <p:xfrm>
          <a:off x="2631116" y="1648830"/>
          <a:ext cx="3000000" cy="3000000"/>
        </p:xfrm>
        <a:graphic>
          <a:graphicData uri="http://schemas.openxmlformats.org/drawingml/2006/table">
            <a:tbl>
              <a:tblPr>
                <a:noFill/>
                <a:tableStyleId>{B1E721A2-12BA-4D2C-A3C7-E488E54E9686}</a:tableStyleId>
              </a:tblPr>
              <a:tblGrid>
                <a:gridCol w="1369525"/>
                <a:gridCol w="1218325"/>
                <a:gridCol w="1293925"/>
              </a:tblGrid>
              <a:tr h="381000">
                <a:tc>
                  <a:txBody>
                    <a:bodyPr/>
                    <a:lstStyle/>
                    <a:p>
                      <a:pPr indent="0" lvl="0" marL="0" rtl="0" algn="l">
                        <a:spcBef>
                          <a:spcPts val="0"/>
                        </a:spcBef>
                        <a:spcAft>
                          <a:spcPts val="0"/>
                        </a:spcAft>
                        <a:buNone/>
                      </a:pPr>
                      <a:r>
                        <a:rPr lang="de" sz="1600">
                          <a:solidFill>
                            <a:schemeClr val="dk2"/>
                          </a:solidFill>
                          <a:latin typeface="Open Sans Light"/>
                          <a:ea typeface="Open Sans Light"/>
                          <a:cs typeface="Open Sans Light"/>
                          <a:sym typeface="Open Sans Light"/>
                        </a:rPr>
                        <a:t>Source</a:t>
                      </a:r>
                      <a:endParaRPr sz="1600">
                        <a:solidFill>
                          <a:schemeClr val="dk2"/>
                        </a:solidFill>
                        <a:latin typeface="Open Sans Light"/>
                        <a:ea typeface="Open Sans Light"/>
                        <a:cs typeface="Open Sans Light"/>
                        <a:sym typeface="Open Sans Ligh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de" sz="1600">
                          <a:solidFill>
                            <a:schemeClr val="dk2"/>
                          </a:solidFill>
                          <a:latin typeface="Open Sans"/>
                          <a:ea typeface="Open Sans"/>
                          <a:cs typeface="Open Sans"/>
                          <a:sym typeface="Open Sans"/>
                        </a:rPr>
                        <a:t>Douglas fir</a:t>
                      </a:r>
                      <a:endParaRPr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de" sz="1600">
                          <a:solidFill>
                            <a:schemeClr val="dk2"/>
                          </a:solidFill>
                          <a:latin typeface="Open Sans"/>
                          <a:ea typeface="Open Sans"/>
                          <a:cs typeface="Open Sans"/>
                          <a:sym typeface="Open Sans"/>
                        </a:rPr>
                        <a:t>Pine</a:t>
                      </a:r>
                      <a:endParaRPr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rtl="0" algn="l">
                        <a:spcBef>
                          <a:spcPts val="0"/>
                        </a:spcBef>
                        <a:spcAft>
                          <a:spcPts val="0"/>
                        </a:spcAft>
                        <a:buNone/>
                      </a:pPr>
                      <a:r>
                        <a:rPr lang="de" sz="1600">
                          <a:solidFill>
                            <a:schemeClr val="dk2"/>
                          </a:solidFill>
                          <a:latin typeface="Open Sans Light"/>
                          <a:ea typeface="Open Sans Light"/>
                          <a:cs typeface="Open Sans Light"/>
                          <a:sym typeface="Open Sans Light"/>
                        </a:rPr>
                        <a:t>Soil</a:t>
                      </a:r>
                      <a:endParaRPr sz="1600">
                        <a:solidFill>
                          <a:schemeClr val="dk2"/>
                        </a:solidFill>
                        <a:latin typeface="Open Sans Light"/>
                        <a:ea typeface="Open Sans Light"/>
                        <a:cs typeface="Open Sans Light"/>
                        <a:sym typeface="Open Sans Ligh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de" sz="1600">
                          <a:solidFill>
                            <a:schemeClr val="dk2"/>
                          </a:solidFill>
                          <a:latin typeface="Open Sans"/>
                          <a:ea typeface="Open Sans"/>
                          <a:cs typeface="Open Sans"/>
                          <a:sym typeface="Open Sans"/>
                        </a:rPr>
                        <a:t>89.2%</a:t>
                      </a:r>
                      <a:endParaRPr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de" sz="1600">
                          <a:solidFill>
                            <a:schemeClr val="dk2"/>
                          </a:solidFill>
                          <a:latin typeface="Open Sans"/>
                          <a:ea typeface="Open Sans"/>
                          <a:cs typeface="Open Sans"/>
                          <a:sym typeface="Open Sans"/>
                        </a:rPr>
                        <a:t>95.7%</a:t>
                      </a:r>
                      <a:endParaRPr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rtl="0" algn="l">
                        <a:spcBef>
                          <a:spcPts val="0"/>
                        </a:spcBef>
                        <a:spcAft>
                          <a:spcPts val="0"/>
                        </a:spcAft>
                        <a:buNone/>
                      </a:pPr>
                      <a:r>
                        <a:rPr lang="de" sz="1600">
                          <a:solidFill>
                            <a:schemeClr val="dk2"/>
                          </a:solidFill>
                          <a:latin typeface="Open Sans Light"/>
                          <a:ea typeface="Open Sans Light"/>
                          <a:cs typeface="Open Sans Light"/>
                          <a:sym typeface="Open Sans Light"/>
                        </a:rPr>
                        <a:t>Precipitation</a:t>
                      </a:r>
                      <a:endParaRPr sz="1600">
                        <a:solidFill>
                          <a:schemeClr val="dk2"/>
                        </a:solidFill>
                        <a:latin typeface="Open Sans Light"/>
                        <a:ea typeface="Open Sans Light"/>
                        <a:cs typeface="Open Sans Light"/>
                        <a:sym typeface="Open Sans Ligh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de" sz="1600">
                          <a:solidFill>
                            <a:schemeClr val="dk2"/>
                          </a:solidFill>
                          <a:latin typeface="Open Sans"/>
                          <a:ea typeface="Open Sans"/>
                          <a:cs typeface="Open Sans"/>
                          <a:sym typeface="Open Sans"/>
                        </a:rPr>
                        <a:t>10.4%</a:t>
                      </a:r>
                      <a:endParaRPr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de" sz="1600">
                          <a:solidFill>
                            <a:schemeClr val="dk2"/>
                          </a:solidFill>
                          <a:latin typeface="Open Sans"/>
                          <a:ea typeface="Open Sans"/>
                          <a:cs typeface="Open Sans"/>
                          <a:sym typeface="Open Sans"/>
                        </a:rPr>
                        <a:t>4.3%</a:t>
                      </a:r>
                      <a:endParaRPr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de" sz="1600">
                          <a:solidFill>
                            <a:schemeClr val="dk2"/>
                          </a:solidFill>
                          <a:latin typeface="Open Sans"/>
                          <a:ea typeface="Open Sans"/>
                          <a:cs typeface="Open Sans"/>
                          <a:sym typeface="Open Sans"/>
                        </a:rPr>
                        <a:t>Label</a:t>
                      </a:r>
                      <a:endParaRPr b="1"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de" sz="1600">
                          <a:solidFill>
                            <a:schemeClr val="dk2"/>
                          </a:solidFill>
                          <a:latin typeface="Open Sans"/>
                          <a:ea typeface="Open Sans"/>
                          <a:cs typeface="Open Sans"/>
                          <a:sym typeface="Open Sans"/>
                        </a:rPr>
                        <a:t>0.6%</a:t>
                      </a:r>
                      <a:endParaRPr b="1"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de" sz="1600">
                          <a:solidFill>
                            <a:schemeClr val="dk2"/>
                          </a:solidFill>
                          <a:latin typeface="Open Sans"/>
                          <a:ea typeface="Open Sans"/>
                          <a:cs typeface="Open Sans"/>
                          <a:sym typeface="Open Sans"/>
                        </a:rPr>
                        <a:t>0.0%</a:t>
                      </a:r>
                      <a:endParaRPr b="1" sz="1600">
                        <a:solidFill>
                          <a:schemeClr val="dk2"/>
                        </a:solidFill>
                        <a:latin typeface="Open Sans"/>
                        <a:ea typeface="Open Sans"/>
                        <a:cs typeface="Open Sans"/>
                        <a:sym typeface="Open Sans"/>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56" name="Google Shape;25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57" name="Google Shape;257;p33"/>
          <p:cNvSpPr txBox="1"/>
          <p:nvPr/>
        </p:nvSpPr>
        <p:spPr>
          <a:xfrm>
            <a:off x="-259793" y="1231335"/>
            <a:ext cx="7298400" cy="431100"/>
          </a:xfrm>
          <a:prstGeom prst="rect">
            <a:avLst/>
          </a:prstGeom>
          <a:noFill/>
          <a:ln>
            <a:noFill/>
          </a:ln>
        </p:spPr>
        <p:txBody>
          <a:bodyPr anchorCtr="0" anchor="t" bIns="91425" lIns="91425" spcFirstLastPara="1" rIns="91425" wrap="square" tIns="91425">
            <a:spAutoFit/>
          </a:bodyPr>
          <a:lstStyle/>
          <a:p>
            <a:pPr indent="0" lvl="0" marL="1828800" rtl="0" algn="ctr">
              <a:lnSpc>
                <a:spcPct val="115000"/>
              </a:lnSpc>
              <a:spcBef>
                <a:spcPts val="0"/>
              </a:spcBef>
              <a:spcAft>
                <a:spcPts val="1200"/>
              </a:spcAft>
              <a:buNone/>
            </a:pPr>
            <a:r>
              <a:rPr lang="de" sz="1600">
                <a:solidFill>
                  <a:srgbClr val="333333"/>
                </a:solidFill>
                <a:latin typeface="Open Sans Light"/>
                <a:ea typeface="Open Sans Light"/>
                <a:cs typeface="Open Sans Light"/>
                <a:sym typeface="Open Sans Light"/>
              </a:rPr>
              <a:t>       Average contribution (2026-02-27)</a:t>
            </a:r>
            <a:endParaRPr b="1" sz="1600">
              <a:solidFill>
                <a:srgbClr val="333333"/>
              </a:solidFill>
              <a:highlight>
                <a:schemeClr val="accent6"/>
              </a:highlight>
              <a:latin typeface="Open Sans Light"/>
              <a:ea typeface="Open Sans Light"/>
              <a:cs typeface="Open Sans Light"/>
              <a:sym typeface="Open Sans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grpSp>
        <p:nvGrpSpPr>
          <p:cNvPr id="262" name="Google Shape;262;p34"/>
          <p:cNvGrpSpPr/>
          <p:nvPr/>
        </p:nvGrpSpPr>
        <p:grpSpPr>
          <a:xfrm>
            <a:off x="384857" y="1570182"/>
            <a:ext cx="4844680" cy="2781775"/>
            <a:chOff x="3179307" y="1600850"/>
            <a:chExt cx="4844680" cy="2781775"/>
          </a:xfrm>
        </p:grpSpPr>
        <p:pic>
          <p:nvPicPr>
            <p:cNvPr id="263" name="Google Shape;263;p34" title="Points scored"/>
            <p:cNvPicPr preferRelativeResize="0"/>
            <p:nvPr/>
          </p:nvPicPr>
          <p:blipFill rotWithShape="1">
            <a:blip r:embed="rId3">
              <a:alphaModFix/>
            </a:blip>
            <a:srcRect b="0" l="0" r="20395" t="0"/>
            <a:stretch/>
          </p:blipFill>
          <p:spPr>
            <a:xfrm>
              <a:off x="3179307" y="1600850"/>
              <a:ext cx="2959026" cy="2781775"/>
            </a:xfrm>
            <a:prstGeom prst="rect">
              <a:avLst/>
            </a:prstGeom>
            <a:noFill/>
            <a:ln>
              <a:noFill/>
            </a:ln>
          </p:spPr>
        </p:pic>
        <p:sp>
          <p:nvSpPr>
            <p:cNvPr id="264" name="Google Shape;264;p34"/>
            <p:cNvSpPr txBox="1"/>
            <p:nvPr/>
          </p:nvSpPr>
          <p:spPr>
            <a:xfrm>
              <a:off x="3708653" y="3487386"/>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89.2%</a:t>
              </a:r>
              <a:endParaRPr/>
            </a:p>
          </p:txBody>
        </p:sp>
        <p:sp>
          <p:nvSpPr>
            <p:cNvPr id="265" name="Google Shape;265;p34"/>
            <p:cNvSpPr txBox="1"/>
            <p:nvPr/>
          </p:nvSpPr>
          <p:spPr>
            <a:xfrm>
              <a:off x="3901278" y="1991542"/>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10.4%</a:t>
              </a:r>
              <a:endParaRPr/>
            </a:p>
          </p:txBody>
        </p:sp>
        <p:sp>
          <p:nvSpPr>
            <p:cNvPr id="266" name="Google Shape;266;p34"/>
            <p:cNvSpPr txBox="1"/>
            <p:nvPr/>
          </p:nvSpPr>
          <p:spPr>
            <a:xfrm>
              <a:off x="5023986" y="1735541"/>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0.6%</a:t>
              </a:r>
              <a:endParaRPr/>
            </a:p>
          </p:txBody>
        </p:sp>
      </p:grpSp>
      <p:sp>
        <p:nvSpPr>
          <p:cNvPr id="267" name="Google Shape;26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68" name="Google Shape;268;p34"/>
          <p:cNvSpPr/>
          <p:nvPr/>
        </p:nvSpPr>
        <p:spPr>
          <a:xfrm rot="5400000">
            <a:off x="4650200" y="668850"/>
            <a:ext cx="3339000" cy="4462800"/>
          </a:xfrm>
          <a:prstGeom prst="wedgeRectCallout">
            <a:avLst>
              <a:gd fmla="val -29807" name="adj1"/>
              <a:gd fmla="val 78538" name="adj2"/>
            </a:avLst>
          </a:prstGeom>
          <a:solidFill>
            <a:schemeClr val="lt1"/>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pic>
        <p:nvPicPr>
          <p:cNvPr id="269" name="Google Shape;269;p34" title="contr_mixsiar.png"/>
          <p:cNvPicPr preferRelativeResize="0"/>
          <p:nvPr/>
        </p:nvPicPr>
        <p:blipFill rotWithShape="1">
          <a:blip r:embed="rId4">
            <a:alphaModFix/>
          </a:blip>
          <a:srcRect b="0" l="2912" r="5806" t="9812"/>
          <a:stretch/>
        </p:blipFill>
        <p:spPr>
          <a:xfrm>
            <a:off x="4291611" y="1388107"/>
            <a:ext cx="3981225" cy="3145926"/>
          </a:xfrm>
          <a:prstGeom prst="rect">
            <a:avLst/>
          </a:prstGeom>
          <a:noFill/>
          <a:ln>
            <a:noFill/>
          </a:ln>
        </p:spPr>
      </p:pic>
      <p:sp>
        <p:nvSpPr>
          <p:cNvPr id="270" name="Google Shape;27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Source contribution (MixSIAR)</a:t>
            </a:r>
            <a:endParaRPr sz="2700">
              <a:latin typeface="Open Sans"/>
              <a:ea typeface="Open Sans"/>
              <a:cs typeface="Open Sans"/>
              <a:sym typeface="Open Sans"/>
            </a:endParaRPr>
          </a:p>
        </p:txBody>
      </p:sp>
      <p:sp>
        <p:nvSpPr>
          <p:cNvPr id="271" name="Google Shape;271;p34"/>
          <p:cNvSpPr txBox="1"/>
          <p:nvPr/>
        </p:nvSpPr>
        <p:spPr>
          <a:xfrm>
            <a:off x="311701" y="1062350"/>
            <a:ext cx="6726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de" sz="1600">
                <a:solidFill>
                  <a:srgbClr val="333333"/>
                </a:solidFill>
                <a:latin typeface="Open Sans"/>
                <a:ea typeface="Open Sans"/>
                <a:cs typeface="Open Sans"/>
                <a:sym typeface="Open Sans"/>
              </a:rPr>
              <a:t>Average</a:t>
            </a:r>
            <a:r>
              <a:rPr lang="de" sz="1600">
                <a:solidFill>
                  <a:srgbClr val="333333"/>
                </a:solidFill>
                <a:latin typeface="Open Sans"/>
                <a:ea typeface="Open Sans"/>
                <a:cs typeface="Open Sans"/>
                <a:sym typeface="Open Sans"/>
              </a:rPr>
              <a:t> contribution (2026-02-27)</a:t>
            </a:r>
            <a:endParaRPr sz="1600">
              <a:solidFill>
                <a:srgbClr val="333333"/>
              </a:solidFill>
              <a:highlight>
                <a:schemeClr val="accent6"/>
              </a:highlight>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pSp>
        <p:nvGrpSpPr>
          <p:cNvPr id="276" name="Google Shape;276;p35"/>
          <p:cNvGrpSpPr/>
          <p:nvPr/>
        </p:nvGrpSpPr>
        <p:grpSpPr>
          <a:xfrm>
            <a:off x="384857" y="1570182"/>
            <a:ext cx="4844680" cy="2781775"/>
            <a:chOff x="3179307" y="1600850"/>
            <a:chExt cx="4844680" cy="2781775"/>
          </a:xfrm>
        </p:grpSpPr>
        <p:pic>
          <p:nvPicPr>
            <p:cNvPr id="277" name="Google Shape;277;p35" title="Points scored"/>
            <p:cNvPicPr preferRelativeResize="0"/>
            <p:nvPr/>
          </p:nvPicPr>
          <p:blipFill rotWithShape="1">
            <a:blip r:embed="rId3">
              <a:alphaModFix/>
            </a:blip>
            <a:srcRect b="0" l="0" r="20395" t="0"/>
            <a:stretch/>
          </p:blipFill>
          <p:spPr>
            <a:xfrm>
              <a:off x="3179307" y="1600850"/>
              <a:ext cx="2959026" cy="2781775"/>
            </a:xfrm>
            <a:prstGeom prst="rect">
              <a:avLst/>
            </a:prstGeom>
            <a:noFill/>
            <a:ln>
              <a:noFill/>
            </a:ln>
          </p:spPr>
        </p:pic>
        <p:sp>
          <p:nvSpPr>
            <p:cNvPr id="278" name="Google Shape;278;p35"/>
            <p:cNvSpPr txBox="1"/>
            <p:nvPr/>
          </p:nvSpPr>
          <p:spPr>
            <a:xfrm>
              <a:off x="3708653" y="3487386"/>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89.2%</a:t>
              </a:r>
              <a:endParaRPr/>
            </a:p>
          </p:txBody>
        </p:sp>
        <p:sp>
          <p:nvSpPr>
            <p:cNvPr id="279" name="Google Shape;279;p35"/>
            <p:cNvSpPr txBox="1"/>
            <p:nvPr/>
          </p:nvSpPr>
          <p:spPr>
            <a:xfrm>
              <a:off x="3901278" y="1991542"/>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10.4%</a:t>
              </a:r>
              <a:endParaRPr/>
            </a:p>
          </p:txBody>
        </p:sp>
        <p:sp>
          <p:nvSpPr>
            <p:cNvPr id="280" name="Google Shape;280;p35"/>
            <p:cNvSpPr txBox="1"/>
            <p:nvPr/>
          </p:nvSpPr>
          <p:spPr>
            <a:xfrm>
              <a:off x="5023986" y="1735541"/>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t>0.6%</a:t>
              </a:r>
              <a:endParaRPr/>
            </a:p>
          </p:txBody>
        </p:sp>
      </p:grpSp>
      <p:sp>
        <p:nvSpPr>
          <p:cNvPr id="281" name="Google Shape;28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82" name="Google Shape;282;p35"/>
          <p:cNvSpPr/>
          <p:nvPr/>
        </p:nvSpPr>
        <p:spPr>
          <a:xfrm rot="5400000">
            <a:off x="4650200" y="668850"/>
            <a:ext cx="3339000" cy="4462800"/>
          </a:xfrm>
          <a:prstGeom prst="wedgeRectCallout">
            <a:avLst>
              <a:gd fmla="val -29807" name="adj1"/>
              <a:gd fmla="val 78538" name="adj2"/>
            </a:avLst>
          </a:prstGeom>
          <a:solidFill>
            <a:schemeClr val="lt1"/>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pic>
        <p:nvPicPr>
          <p:cNvPr id="283" name="Google Shape;283;p35" title="contr_mixsiar.png"/>
          <p:cNvPicPr preferRelativeResize="0"/>
          <p:nvPr/>
        </p:nvPicPr>
        <p:blipFill rotWithShape="1">
          <a:blip r:embed="rId4">
            <a:alphaModFix/>
          </a:blip>
          <a:srcRect b="0" l="2912" r="5806" t="9812"/>
          <a:stretch/>
        </p:blipFill>
        <p:spPr>
          <a:xfrm>
            <a:off x="4291611" y="1388107"/>
            <a:ext cx="3981225" cy="3145926"/>
          </a:xfrm>
          <a:prstGeom prst="rect">
            <a:avLst/>
          </a:prstGeom>
          <a:noFill/>
          <a:ln>
            <a:noFill/>
          </a:ln>
        </p:spPr>
      </p:pic>
      <p:sp>
        <p:nvSpPr>
          <p:cNvPr id="284" name="Google Shape;28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Source contribution (MixSIAR)</a:t>
            </a:r>
            <a:endParaRPr sz="2700">
              <a:latin typeface="Open Sans"/>
              <a:ea typeface="Open Sans"/>
              <a:cs typeface="Open Sans"/>
              <a:sym typeface="Open Sans"/>
            </a:endParaRPr>
          </a:p>
        </p:txBody>
      </p:sp>
      <p:sp>
        <p:nvSpPr>
          <p:cNvPr id="285" name="Google Shape;285;p35"/>
          <p:cNvSpPr txBox="1"/>
          <p:nvPr/>
        </p:nvSpPr>
        <p:spPr>
          <a:xfrm>
            <a:off x="311701" y="1062350"/>
            <a:ext cx="6726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de" sz="1600">
                <a:solidFill>
                  <a:srgbClr val="333333"/>
                </a:solidFill>
                <a:latin typeface="Open Sans"/>
                <a:ea typeface="Open Sans"/>
                <a:cs typeface="Open Sans"/>
                <a:sym typeface="Open Sans"/>
              </a:rPr>
              <a:t>Average contribution (2026-02-27)</a:t>
            </a:r>
            <a:endParaRPr sz="1600">
              <a:solidFill>
                <a:srgbClr val="333333"/>
              </a:solidFill>
              <a:highlight>
                <a:schemeClr val="accent6"/>
              </a:highlight>
              <a:latin typeface="Open Sans"/>
              <a:ea typeface="Open Sans"/>
              <a:cs typeface="Open Sans"/>
              <a:sym typeface="Open Sans"/>
            </a:endParaRPr>
          </a:p>
        </p:txBody>
      </p:sp>
      <p:sp>
        <p:nvSpPr>
          <p:cNvPr id="286" name="Google Shape;286;p35"/>
          <p:cNvSpPr txBox="1"/>
          <p:nvPr/>
        </p:nvSpPr>
        <p:spPr>
          <a:xfrm>
            <a:off x="2743752" y="4644475"/>
            <a:ext cx="6726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de" sz="1600">
                <a:solidFill>
                  <a:srgbClr val="333333"/>
                </a:solidFill>
                <a:latin typeface="Open Sans"/>
                <a:ea typeface="Open Sans"/>
                <a:cs typeface="Open Sans"/>
                <a:sym typeface="Open Sans"/>
              </a:rPr>
              <a:t>Total label uptake of up to </a:t>
            </a:r>
            <a:r>
              <a:rPr b="1" lang="de" sz="1600">
                <a:solidFill>
                  <a:srgbClr val="333333"/>
                </a:solidFill>
                <a:latin typeface="Open Sans"/>
                <a:ea typeface="Open Sans"/>
                <a:cs typeface="Open Sans"/>
                <a:sym typeface="Open Sans"/>
              </a:rPr>
              <a:t>5 ml/day</a:t>
            </a:r>
            <a:endParaRPr b="1" sz="1600">
              <a:solidFill>
                <a:srgbClr val="333333"/>
              </a:solidFill>
              <a:highlight>
                <a:schemeClr val="accent6"/>
              </a:highlight>
              <a:latin typeface="Open Sans"/>
              <a:ea typeface="Open Sans"/>
              <a:cs typeface="Open Sans"/>
              <a:sym typeface="Open Sans"/>
            </a:endParaRPr>
          </a:p>
        </p:txBody>
      </p:sp>
      <p:sp>
        <p:nvSpPr>
          <p:cNvPr id="287" name="Google Shape;287;p35"/>
          <p:cNvSpPr/>
          <p:nvPr/>
        </p:nvSpPr>
        <p:spPr>
          <a:xfrm>
            <a:off x="2401150" y="4696825"/>
            <a:ext cx="342600" cy="32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293" name="Google Shape;29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MixSIAR vs. Kuehnhammer</a:t>
            </a:r>
            <a:endParaRPr sz="2700">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299" name="Google Shape;299;p37" title="contr_model_comp_v4.png"/>
          <p:cNvPicPr preferRelativeResize="0"/>
          <p:nvPr/>
        </p:nvPicPr>
        <p:blipFill>
          <a:blip r:embed="rId3">
            <a:alphaModFix/>
          </a:blip>
          <a:stretch>
            <a:fillRect/>
          </a:stretch>
        </p:blipFill>
        <p:spPr>
          <a:xfrm>
            <a:off x="891205" y="1070218"/>
            <a:ext cx="7361577" cy="3680776"/>
          </a:xfrm>
          <a:prstGeom prst="rect">
            <a:avLst/>
          </a:prstGeom>
          <a:noFill/>
          <a:ln>
            <a:noFill/>
          </a:ln>
        </p:spPr>
      </p:pic>
      <p:sp>
        <p:nvSpPr>
          <p:cNvPr id="300" name="Google Shape;30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MixSIAR vs. Kuehnhammer</a:t>
            </a:r>
            <a:endParaRPr sz="2700">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type="title"/>
          </p:nvPr>
        </p:nvSpPr>
        <p:spPr>
          <a:xfrm>
            <a:off x="311700" y="188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Hypothesis 2 </a:t>
            </a:r>
            <a:endParaRPr/>
          </a:p>
        </p:txBody>
      </p:sp>
      <p:sp>
        <p:nvSpPr>
          <p:cNvPr id="306" name="Google Shape;306;p38"/>
          <p:cNvSpPr txBox="1"/>
          <p:nvPr>
            <p:ph idx="1" type="body"/>
          </p:nvPr>
        </p:nvSpPr>
        <p:spPr>
          <a:xfrm>
            <a:off x="366350" y="833450"/>
            <a:ext cx="8654700" cy="411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600"/>
              <a:t>Scots pine has a more conservative water use strategy, while Douglas fir is comparably more water spending (Thomas et al. 2022).</a:t>
            </a:r>
            <a:endParaRPr sz="1400"/>
          </a:p>
          <a:p>
            <a:pPr indent="0" lvl="0" marL="0" rtl="0" algn="l">
              <a:spcBef>
                <a:spcPts val="1200"/>
              </a:spcBef>
              <a:spcAft>
                <a:spcPts val="0"/>
              </a:spcAft>
              <a:buNone/>
            </a:pPr>
            <a:r>
              <a:rPr lang="de" sz="1200"/>
              <a:t>Douglas fir has </a:t>
            </a:r>
            <a:endParaRPr sz="1200"/>
          </a:p>
          <a:p>
            <a:pPr indent="-304800" lvl="0" marL="457200" rtl="0" algn="l">
              <a:lnSpc>
                <a:spcPct val="115000"/>
              </a:lnSpc>
              <a:spcBef>
                <a:spcPts val="1200"/>
              </a:spcBef>
              <a:spcAft>
                <a:spcPts val="0"/>
              </a:spcAft>
              <a:buSzPts val="1200"/>
              <a:buChar char="-"/>
            </a:pPr>
            <a:r>
              <a:rPr lang="de" sz="1200"/>
              <a:t>Lower water potentials</a:t>
            </a:r>
            <a:endParaRPr sz="1200"/>
          </a:p>
          <a:p>
            <a:pPr indent="-304800" lvl="0" marL="457200" rtl="0" algn="l">
              <a:lnSpc>
                <a:spcPct val="100000"/>
              </a:lnSpc>
              <a:spcBef>
                <a:spcPts val="0"/>
              </a:spcBef>
              <a:spcAft>
                <a:spcPts val="0"/>
              </a:spcAft>
              <a:buSzPts val="1200"/>
              <a:buChar char="-"/>
            </a:pPr>
            <a:r>
              <a:rPr lang="de" sz="1200"/>
              <a:t>Faster uptake of isotopic label </a:t>
            </a:r>
            <a:endParaRPr sz="1200"/>
          </a:p>
          <a:p>
            <a:pPr indent="457200" lvl="0" marL="0" rtl="0" algn="l">
              <a:lnSpc>
                <a:spcPct val="60000"/>
              </a:lnSpc>
              <a:spcBef>
                <a:spcPts val="1200"/>
              </a:spcBef>
              <a:spcAft>
                <a:spcPts val="0"/>
              </a:spcAft>
              <a:buNone/>
            </a:pPr>
            <a:r>
              <a:rPr lang="de" sz="1200"/>
              <a:t>→ Suggesting higher transpiration rates</a:t>
            </a:r>
            <a:endParaRPr sz="1200"/>
          </a:p>
          <a:p>
            <a:pPr indent="-304800" lvl="0" marL="457200" rtl="0" algn="l">
              <a:lnSpc>
                <a:spcPct val="100000"/>
              </a:lnSpc>
              <a:spcBef>
                <a:spcPts val="1200"/>
              </a:spcBef>
              <a:spcAft>
                <a:spcPts val="0"/>
              </a:spcAft>
              <a:buSzPts val="1200"/>
              <a:buChar char="-"/>
            </a:pPr>
            <a:r>
              <a:rPr lang="de" sz="1200"/>
              <a:t>Also supported by stronger decrease in soil moisture </a:t>
            </a:r>
            <a:endParaRPr sz="1200"/>
          </a:p>
          <a:p>
            <a:pPr indent="-304800" lvl="0" marL="457200" rtl="0" algn="l">
              <a:lnSpc>
                <a:spcPct val="100000"/>
              </a:lnSpc>
              <a:spcBef>
                <a:spcPts val="0"/>
              </a:spcBef>
              <a:spcAft>
                <a:spcPts val="0"/>
              </a:spcAft>
              <a:buSzPts val="1200"/>
              <a:buChar char="-"/>
            </a:pPr>
            <a:r>
              <a:rPr lang="de" sz="1200"/>
              <a:t>Higher sap flow</a:t>
            </a:r>
            <a:endParaRPr sz="1200"/>
          </a:p>
          <a:p>
            <a:pPr indent="0" lvl="0" marL="0" rtl="0" algn="l">
              <a:spcBef>
                <a:spcPts val="1200"/>
              </a:spcBef>
              <a:spcAft>
                <a:spcPts val="0"/>
              </a:spcAft>
              <a:buNone/>
            </a:pPr>
            <a:r>
              <a:t/>
            </a:r>
            <a:endParaRPr b="1" sz="1200">
              <a:latin typeface="Open Sans"/>
              <a:ea typeface="Open Sans"/>
              <a:cs typeface="Open Sans"/>
              <a:sym typeface="Open Sans"/>
            </a:endParaRPr>
          </a:p>
          <a:p>
            <a:pPr indent="0" lvl="0" marL="457200" rtl="0" algn="l">
              <a:spcBef>
                <a:spcPts val="1200"/>
              </a:spcBef>
              <a:spcAft>
                <a:spcPts val="1200"/>
              </a:spcAft>
              <a:buNone/>
            </a:pPr>
            <a:r>
              <a:t/>
            </a:r>
            <a:endParaRPr b="1"/>
          </a:p>
        </p:txBody>
      </p:sp>
      <p:sp>
        <p:nvSpPr>
          <p:cNvPr id="307" name="Google Shape;30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308" name="Google Shape;308;p38" title="Bildschirmfoto 2026-03-12 um 11.43.09.png"/>
          <p:cNvPicPr preferRelativeResize="0"/>
          <p:nvPr/>
        </p:nvPicPr>
        <p:blipFill>
          <a:blip r:embed="rId3">
            <a:alphaModFix/>
          </a:blip>
          <a:stretch>
            <a:fillRect/>
          </a:stretch>
        </p:blipFill>
        <p:spPr>
          <a:xfrm>
            <a:off x="2537797" y="1881978"/>
            <a:ext cx="276300" cy="248670"/>
          </a:xfrm>
          <a:prstGeom prst="rect">
            <a:avLst/>
          </a:prstGeom>
          <a:noFill/>
          <a:ln>
            <a:noFill/>
          </a:ln>
        </p:spPr>
      </p:pic>
      <p:pic>
        <p:nvPicPr>
          <p:cNvPr id="309" name="Google Shape;309;p38" title="Bildschirmfoto 2026-03-12 um 11.44.14.png"/>
          <p:cNvPicPr preferRelativeResize="0"/>
          <p:nvPr/>
        </p:nvPicPr>
        <p:blipFill>
          <a:blip r:embed="rId4">
            <a:alphaModFix/>
          </a:blip>
          <a:stretch>
            <a:fillRect/>
          </a:stretch>
        </p:blipFill>
        <p:spPr>
          <a:xfrm>
            <a:off x="2098954" y="2979493"/>
            <a:ext cx="220750" cy="248675"/>
          </a:xfrm>
          <a:prstGeom prst="rect">
            <a:avLst/>
          </a:prstGeom>
          <a:noFill/>
          <a:ln>
            <a:noFill/>
          </a:ln>
        </p:spPr>
      </p:pic>
      <p:pic>
        <p:nvPicPr>
          <p:cNvPr id="310" name="Google Shape;310;p38" title="Bildschirmfoto 2026-03-12 um 11.43.09.png"/>
          <p:cNvPicPr preferRelativeResize="0"/>
          <p:nvPr/>
        </p:nvPicPr>
        <p:blipFill>
          <a:blip r:embed="rId3">
            <a:alphaModFix/>
          </a:blip>
          <a:stretch>
            <a:fillRect/>
          </a:stretch>
        </p:blipFill>
        <p:spPr>
          <a:xfrm>
            <a:off x="3023572" y="2110938"/>
            <a:ext cx="276306" cy="2486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9"/>
          <p:cNvSpPr txBox="1"/>
          <p:nvPr>
            <p:ph type="title"/>
          </p:nvPr>
        </p:nvSpPr>
        <p:spPr>
          <a:xfrm>
            <a:off x="311700" y="188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Hypothesis 2 </a:t>
            </a:r>
            <a:endParaRPr/>
          </a:p>
        </p:txBody>
      </p:sp>
      <p:sp>
        <p:nvSpPr>
          <p:cNvPr id="316" name="Google Shape;316;p39"/>
          <p:cNvSpPr txBox="1"/>
          <p:nvPr>
            <p:ph idx="1" type="body"/>
          </p:nvPr>
        </p:nvSpPr>
        <p:spPr>
          <a:xfrm>
            <a:off x="366350" y="833450"/>
            <a:ext cx="8654700" cy="411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600">
                <a:latin typeface="Open Sans"/>
                <a:ea typeface="Open Sans"/>
                <a:cs typeface="Open Sans"/>
                <a:sym typeface="Open Sans"/>
              </a:rPr>
              <a:t>Scots pine has a more conservative water use strategy, while Douglas fir is comparably more water spending (Thomas et al. 2022).</a:t>
            </a:r>
            <a:endParaRPr sz="1400">
              <a:latin typeface="Open Sans"/>
              <a:ea typeface="Open Sans"/>
              <a:cs typeface="Open Sans"/>
              <a:sym typeface="Open Sans"/>
            </a:endParaRPr>
          </a:p>
          <a:p>
            <a:pPr indent="0" lvl="0" marL="0" rtl="0" algn="l">
              <a:spcBef>
                <a:spcPts val="1200"/>
              </a:spcBef>
              <a:spcAft>
                <a:spcPts val="0"/>
              </a:spcAft>
              <a:buNone/>
            </a:pPr>
            <a:r>
              <a:rPr lang="de" sz="1200"/>
              <a:t>Douglas fir has </a:t>
            </a:r>
            <a:endParaRPr sz="1200"/>
          </a:p>
          <a:p>
            <a:pPr indent="-304800" lvl="0" marL="457200" rtl="0" algn="l">
              <a:lnSpc>
                <a:spcPct val="115000"/>
              </a:lnSpc>
              <a:spcBef>
                <a:spcPts val="1200"/>
              </a:spcBef>
              <a:spcAft>
                <a:spcPts val="0"/>
              </a:spcAft>
              <a:buSzPts val="1200"/>
              <a:buChar char="-"/>
            </a:pPr>
            <a:r>
              <a:rPr lang="de" sz="1200"/>
              <a:t>Lower water potentials</a:t>
            </a:r>
            <a:endParaRPr sz="1200"/>
          </a:p>
          <a:p>
            <a:pPr indent="-304800" lvl="0" marL="457200" rtl="0" algn="l">
              <a:lnSpc>
                <a:spcPct val="100000"/>
              </a:lnSpc>
              <a:spcBef>
                <a:spcPts val="0"/>
              </a:spcBef>
              <a:spcAft>
                <a:spcPts val="0"/>
              </a:spcAft>
              <a:buSzPts val="1200"/>
              <a:buChar char="-"/>
            </a:pPr>
            <a:r>
              <a:rPr lang="de" sz="1200"/>
              <a:t>Faster uptake of isotopic label </a:t>
            </a:r>
            <a:endParaRPr sz="1200"/>
          </a:p>
          <a:p>
            <a:pPr indent="457200" lvl="0" marL="0" rtl="0" algn="l">
              <a:lnSpc>
                <a:spcPct val="60000"/>
              </a:lnSpc>
              <a:spcBef>
                <a:spcPts val="1200"/>
              </a:spcBef>
              <a:spcAft>
                <a:spcPts val="0"/>
              </a:spcAft>
              <a:buNone/>
            </a:pPr>
            <a:r>
              <a:rPr lang="de" sz="1200"/>
              <a:t>→ Suggesting higher transpiration rates</a:t>
            </a:r>
            <a:endParaRPr sz="1200"/>
          </a:p>
          <a:p>
            <a:pPr indent="-304800" lvl="0" marL="457200" rtl="0" algn="l">
              <a:lnSpc>
                <a:spcPct val="100000"/>
              </a:lnSpc>
              <a:spcBef>
                <a:spcPts val="1200"/>
              </a:spcBef>
              <a:spcAft>
                <a:spcPts val="0"/>
              </a:spcAft>
              <a:buSzPts val="1200"/>
              <a:buChar char="-"/>
            </a:pPr>
            <a:r>
              <a:rPr lang="de" sz="1200"/>
              <a:t>Also supported by stronger decrease in soil moisture </a:t>
            </a:r>
            <a:endParaRPr sz="1200"/>
          </a:p>
          <a:p>
            <a:pPr indent="-304800" lvl="0" marL="457200" rtl="0" algn="l">
              <a:lnSpc>
                <a:spcPct val="100000"/>
              </a:lnSpc>
              <a:spcBef>
                <a:spcPts val="0"/>
              </a:spcBef>
              <a:spcAft>
                <a:spcPts val="0"/>
              </a:spcAft>
              <a:buSzPts val="1200"/>
              <a:buChar char="-"/>
            </a:pPr>
            <a:r>
              <a:rPr lang="de" sz="1200"/>
              <a:t>Higher sap flow</a:t>
            </a:r>
            <a:endParaRPr sz="1200"/>
          </a:p>
          <a:p>
            <a:pPr indent="0" lvl="0" marL="0" rtl="0" algn="l">
              <a:spcBef>
                <a:spcPts val="1200"/>
              </a:spcBef>
              <a:spcAft>
                <a:spcPts val="0"/>
              </a:spcAft>
              <a:buNone/>
            </a:pPr>
            <a:r>
              <a:t/>
            </a:r>
            <a:endParaRPr b="1" sz="1200">
              <a:latin typeface="Open Sans"/>
              <a:ea typeface="Open Sans"/>
              <a:cs typeface="Open Sans"/>
              <a:sym typeface="Open Sans"/>
            </a:endParaRPr>
          </a:p>
          <a:p>
            <a:pPr indent="0" lvl="0" marL="457200" rtl="0" algn="l">
              <a:spcBef>
                <a:spcPts val="1200"/>
              </a:spcBef>
              <a:spcAft>
                <a:spcPts val="1200"/>
              </a:spcAft>
              <a:buNone/>
            </a:pPr>
            <a:r>
              <a:t/>
            </a:r>
            <a:endParaRPr b="1"/>
          </a:p>
        </p:txBody>
      </p:sp>
      <p:sp>
        <p:nvSpPr>
          <p:cNvPr id="317" name="Google Shape;31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318" name="Google Shape;318;p39" title="Bildschirmfoto 2026-03-12 um 11.43.09.png"/>
          <p:cNvPicPr preferRelativeResize="0"/>
          <p:nvPr/>
        </p:nvPicPr>
        <p:blipFill>
          <a:blip r:embed="rId3">
            <a:alphaModFix/>
          </a:blip>
          <a:stretch>
            <a:fillRect/>
          </a:stretch>
        </p:blipFill>
        <p:spPr>
          <a:xfrm>
            <a:off x="2537797" y="1881978"/>
            <a:ext cx="276300" cy="248670"/>
          </a:xfrm>
          <a:prstGeom prst="rect">
            <a:avLst/>
          </a:prstGeom>
          <a:noFill/>
          <a:ln>
            <a:noFill/>
          </a:ln>
        </p:spPr>
      </p:pic>
      <p:pic>
        <p:nvPicPr>
          <p:cNvPr id="319" name="Google Shape;319;p39" title="Bildschirmfoto 2026-03-12 um 11.44.14.png"/>
          <p:cNvPicPr preferRelativeResize="0"/>
          <p:nvPr/>
        </p:nvPicPr>
        <p:blipFill>
          <a:blip r:embed="rId4">
            <a:alphaModFix/>
          </a:blip>
          <a:stretch>
            <a:fillRect/>
          </a:stretch>
        </p:blipFill>
        <p:spPr>
          <a:xfrm>
            <a:off x="2060854" y="2979493"/>
            <a:ext cx="220750" cy="248675"/>
          </a:xfrm>
          <a:prstGeom prst="rect">
            <a:avLst/>
          </a:prstGeom>
          <a:noFill/>
          <a:ln>
            <a:noFill/>
          </a:ln>
        </p:spPr>
      </p:pic>
      <p:pic>
        <p:nvPicPr>
          <p:cNvPr id="320" name="Google Shape;320;p39" title="Bildschirmfoto 2026-03-12 um 11.43.09.png"/>
          <p:cNvPicPr preferRelativeResize="0"/>
          <p:nvPr/>
        </p:nvPicPr>
        <p:blipFill>
          <a:blip r:embed="rId3">
            <a:alphaModFix/>
          </a:blip>
          <a:stretch>
            <a:fillRect/>
          </a:stretch>
        </p:blipFill>
        <p:spPr>
          <a:xfrm>
            <a:off x="3023572" y="2110938"/>
            <a:ext cx="276306" cy="248675"/>
          </a:xfrm>
          <a:prstGeom prst="rect">
            <a:avLst/>
          </a:prstGeom>
          <a:noFill/>
          <a:ln>
            <a:noFill/>
          </a:ln>
        </p:spPr>
      </p:pic>
      <p:pic>
        <p:nvPicPr>
          <p:cNvPr id="321" name="Google Shape;321;p39" title="Bildschirmfoto 2026-03-12 um 11.43.09.png"/>
          <p:cNvPicPr preferRelativeResize="0"/>
          <p:nvPr/>
        </p:nvPicPr>
        <p:blipFill>
          <a:blip r:embed="rId3">
            <a:alphaModFix/>
          </a:blip>
          <a:stretch>
            <a:fillRect/>
          </a:stretch>
        </p:blipFill>
        <p:spPr>
          <a:xfrm>
            <a:off x="5764815" y="2901746"/>
            <a:ext cx="636322" cy="572700"/>
          </a:xfrm>
          <a:prstGeom prst="rect">
            <a:avLst/>
          </a:prstGeom>
          <a:noFill/>
          <a:ln>
            <a:noFill/>
          </a:ln>
        </p:spPr>
      </p:pic>
      <p:pic>
        <p:nvPicPr>
          <p:cNvPr id="322" name="Google Shape;322;p39" title="Bildschirmfoto 2026-03-12 um 11.44.14.png"/>
          <p:cNvPicPr preferRelativeResize="0"/>
          <p:nvPr/>
        </p:nvPicPr>
        <p:blipFill>
          <a:blip r:embed="rId4">
            <a:alphaModFix/>
          </a:blip>
          <a:stretch>
            <a:fillRect/>
          </a:stretch>
        </p:blipFill>
        <p:spPr>
          <a:xfrm>
            <a:off x="5237963" y="2901738"/>
            <a:ext cx="484337" cy="545600"/>
          </a:xfrm>
          <a:prstGeom prst="rect">
            <a:avLst/>
          </a:prstGeom>
          <a:noFill/>
          <a:ln>
            <a:noFill/>
          </a:ln>
        </p:spPr>
      </p:pic>
      <p:sp>
        <p:nvSpPr>
          <p:cNvPr id="323" name="Google Shape;323;p39"/>
          <p:cNvSpPr txBox="1"/>
          <p:nvPr/>
        </p:nvSpPr>
        <p:spPr>
          <a:xfrm>
            <a:off x="530950" y="3361600"/>
            <a:ext cx="4290000" cy="1695300"/>
          </a:xfrm>
          <a:prstGeom prst="rect">
            <a:avLst/>
          </a:prstGeom>
          <a:noFill/>
          <a:ln cap="flat" cmpd="sng" w="19050">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200">
                <a:solidFill>
                  <a:srgbClr val="333333"/>
                </a:solidFill>
                <a:latin typeface="Open Sans Light"/>
                <a:ea typeface="Open Sans Light"/>
                <a:cs typeface="Open Sans Light"/>
                <a:sym typeface="Open Sans Light"/>
              </a:rPr>
              <a:t>Possible explanation: </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120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Our data shows high radial variation of sap velocity in pine trees  </a:t>
            </a:r>
            <a:endParaRPr sz="1200">
              <a:solidFill>
                <a:srgbClr val="333333"/>
              </a:solidFill>
              <a:latin typeface="Open Sans Light"/>
              <a:ea typeface="Open Sans Light"/>
              <a:cs typeface="Open Sans Light"/>
              <a:sym typeface="Open Sans Light"/>
            </a:endParaRPr>
          </a:p>
          <a:p>
            <a:pPr indent="-304800" lvl="0" marL="457200" rtl="0" algn="l">
              <a:lnSpc>
                <a:spcPct val="115000"/>
              </a:lnSpc>
              <a:spcBef>
                <a:spcPts val="0"/>
              </a:spcBef>
              <a:spcAft>
                <a:spcPts val="0"/>
              </a:spcAft>
              <a:buClr>
                <a:srgbClr val="333333"/>
              </a:buClr>
              <a:buSzPts val="1200"/>
              <a:buFont typeface="Open Sans Light"/>
              <a:buChar char="-"/>
            </a:pPr>
            <a:r>
              <a:rPr lang="de" sz="1200">
                <a:solidFill>
                  <a:srgbClr val="333333"/>
                </a:solidFill>
                <a:latin typeface="Open Sans Light"/>
                <a:ea typeface="Open Sans Light"/>
                <a:cs typeface="Open Sans Light"/>
                <a:sym typeface="Open Sans Light"/>
              </a:rPr>
              <a:t>Also found in the literature (Ford et al. 2007, Nadezhdina et al. 2002)</a:t>
            </a:r>
            <a:endParaRPr sz="1200">
              <a:solidFill>
                <a:srgbClr val="333333"/>
              </a:solidFill>
              <a:latin typeface="Open Sans Light"/>
              <a:ea typeface="Open Sans Light"/>
              <a:cs typeface="Open Sans Light"/>
              <a:sym typeface="Open Sans Light"/>
            </a:endParaRPr>
          </a:p>
          <a:p>
            <a:pPr indent="0" lvl="0" marL="0" rtl="0" algn="l">
              <a:lnSpc>
                <a:spcPct val="115000"/>
              </a:lnSpc>
              <a:spcBef>
                <a:spcPts val="1200"/>
              </a:spcBef>
              <a:spcAft>
                <a:spcPts val="1200"/>
              </a:spcAft>
              <a:buNone/>
            </a:pPr>
            <a:r>
              <a:rPr lang="de" sz="1200">
                <a:solidFill>
                  <a:srgbClr val="333333"/>
                </a:solidFill>
                <a:latin typeface="Open Sans Light"/>
                <a:ea typeface="Open Sans Light"/>
                <a:cs typeface="Open Sans Light"/>
                <a:sym typeface="Open Sans Light"/>
              </a:rPr>
              <a:t>   → Increased uncertainty of sap flow measurements</a:t>
            </a:r>
            <a:endParaRPr sz="1800">
              <a:solidFill>
                <a:srgbClr val="333333"/>
              </a:solidFill>
              <a:latin typeface="Open Sans Light"/>
              <a:ea typeface="Open Sans Light"/>
              <a:cs typeface="Open Sans Light"/>
              <a:sym typeface="Open Sans Light"/>
            </a:endParaRPr>
          </a:p>
        </p:txBody>
      </p:sp>
      <p:sp>
        <p:nvSpPr>
          <p:cNvPr id="324" name="Google Shape;324;p39"/>
          <p:cNvSpPr txBox="1"/>
          <p:nvPr/>
        </p:nvSpPr>
        <p:spPr>
          <a:xfrm>
            <a:off x="5174550" y="1828475"/>
            <a:ext cx="3969600" cy="176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600">
                <a:solidFill>
                  <a:srgbClr val="333333"/>
                </a:solidFill>
                <a:latin typeface="Open Sans"/>
                <a:ea typeface="Open Sans"/>
                <a:cs typeface="Open Sans"/>
                <a:sym typeface="Open Sans"/>
              </a:rPr>
              <a:t>Hypothesis 2 can be partially accepted. </a:t>
            </a:r>
            <a:endParaRPr sz="1600">
              <a:solidFill>
                <a:srgbClr val="333333"/>
              </a:solidFill>
              <a:latin typeface="Open Sans"/>
              <a:ea typeface="Open Sans"/>
              <a:cs typeface="Open Sans"/>
              <a:sym typeface="Open Sans"/>
            </a:endParaRPr>
          </a:p>
          <a:p>
            <a:pPr indent="0" lvl="0" marL="0" rtl="0" algn="l">
              <a:lnSpc>
                <a:spcPct val="115000"/>
              </a:lnSpc>
              <a:spcBef>
                <a:spcPts val="1200"/>
              </a:spcBef>
              <a:spcAft>
                <a:spcPts val="1200"/>
              </a:spcAft>
              <a:buNone/>
            </a:pPr>
            <a:r>
              <a:rPr lang="de">
                <a:solidFill>
                  <a:srgbClr val="333333"/>
                </a:solidFill>
                <a:latin typeface="Open Sans Light"/>
                <a:ea typeface="Open Sans Light"/>
                <a:cs typeface="Open Sans Light"/>
                <a:sym typeface="Open Sans Light"/>
              </a:rPr>
              <a:t>Sap flow does not align with the results of water potential and isotopic label detection.</a:t>
            </a:r>
            <a:endParaRPr sz="1800">
              <a:solidFill>
                <a:srgbClr val="333333"/>
              </a:solidFill>
              <a:latin typeface="Open Sans Light"/>
              <a:ea typeface="Open Sans Light"/>
              <a:cs typeface="Open Sans Light"/>
              <a:sym typeface="Open Sans Light"/>
            </a:endParaRPr>
          </a:p>
        </p:txBody>
      </p:sp>
      <p:sp>
        <p:nvSpPr>
          <p:cNvPr id="325" name="Google Shape;325;p39"/>
          <p:cNvSpPr/>
          <p:nvPr/>
        </p:nvSpPr>
        <p:spPr>
          <a:xfrm>
            <a:off x="4560975" y="2110950"/>
            <a:ext cx="484200" cy="3390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0"/>
          <p:cNvSpPr txBox="1"/>
          <p:nvPr>
            <p:ph type="title"/>
          </p:nvPr>
        </p:nvSpPr>
        <p:spPr>
          <a:xfrm>
            <a:off x="311700" y="25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Linkage of sap flow and water stable isotopes</a:t>
            </a:r>
            <a:endParaRPr/>
          </a:p>
        </p:txBody>
      </p:sp>
      <p:sp>
        <p:nvSpPr>
          <p:cNvPr id="331" name="Google Shape;331;p40"/>
          <p:cNvSpPr txBox="1"/>
          <p:nvPr>
            <p:ph idx="1" type="body"/>
          </p:nvPr>
        </p:nvSpPr>
        <p:spPr>
          <a:xfrm>
            <a:off x="5007775" y="1377850"/>
            <a:ext cx="3985200" cy="397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latin typeface="Open Sans"/>
                <a:ea typeface="Open Sans"/>
                <a:cs typeface="Open Sans"/>
                <a:sym typeface="Open Sans"/>
              </a:rPr>
              <a:t>Hypothesis 3</a:t>
            </a:r>
            <a:endParaRPr b="1">
              <a:latin typeface="Open Sans"/>
              <a:ea typeface="Open Sans"/>
              <a:cs typeface="Open Sans"/>
              <a:sym typeface="Open Sans"/>
            </a:endParaRPr>
          </a:p>
          <a:p>
            <a:pPr indent="0" lvl="0" marL="0" rtl="0" algn="l">
              <a:spcBef>
                <a:spcPts val="1200"/>
              </a:spcBef>
              <a:spcAft>
                <a:spcPts val="0"/>
              </a:spcAft>
              <a:buClr>
                <a:schemeClr val="dk1"/>
              </a:buClr>
              <a:buSzPts val="1100"/>
              <a:buFont typeface="Arial"/>
              <a:buNone/>
            </a:pPr>
            <a:r>
              <a:rPr lang="de" sz="1600"/>
              <a:t>S</a:t>
            </a:r>
            <a:r>
              <a:rPr lang="de" sz="1600"/>
              <a:t>ap velocity of individual trees corresponds to uptake of water stable isotope label.</a:t>
            </a:r>
            <a:endParaRPr sz="1600"/>
          </a:p>
          <a:p>
            <a:pPr indent="0" lvl="0" marL="0" rtl="0" algn="l">
              <a:spcBef>
                <a:spcPts val="1200"/>
              </a:spcBef>
              <a:spcAft>
                <a:spcPts val="0"/>
              </a:spcAft>
              <a:buNone/>
            </a:pPr>
            <a:r>
              <a:rPr b="1" lang="de" sz="1600"/>
              <a:t>→</a:t>
            </a:r>
            <a:r>
              <a:rPr b="1" lang="de" sz="1600"/>
              <a:t> Partly true </a:t>
            </a:r>
            <a:endParaRPr b="1" sz="1600"/>
          </a:p>
          <a:p>
            <a:pPr indent="0" lvl="0" marL="0" rtl="0" algn="l">
              <a:spcBef>
                <a:spcPts val="1200"/>
              </a:spcBef>
              <a:spcAft>
                <a:spcPts val="1200"/>
              </a:spcAft>
              <a:buNone/>
            </a:pPr>
            <a:r>
              <a:t/>
            </a:r>
            <a:endParaRPr b="1" sz="1600"/>
          </a:p>
        </p:txBody>
      </p:sp>
      <p:sp>
        <p:nvSpPr>
          <p:cNvPr id="332" name="Google Shape;33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333" name="Google Shape;333;p40" title="Bildschirmfoto 2026-03-12 um 11.44.14.png"/>
          <p:cNvPicPr preferRelativeResize="0"/>
          <p:nvPr/>
        </p:nvPicPr>
        <p:blipFill>
          <a:blip r:embed="rId3">
            <a:alphaModFix/>
          </a:blip>
          <a:stretch>
            <a:fillRect/>
          </a:stretch>
        </p:blipFill>
        <p:spPr>
          <a:xfrm>
            <a:off x="5607850" y="3269575"/>
            <a:ext cx="450050" cy="457575"/>
          </a:xfrm>
          <a:prstGeom prst="rect">
            <a:avLst/>
          </a:prstGeom>
          <a:noFill/>
          <a:ln>
            <a:noFill/>
          </a:ln>
        </p:spPr>
      </p:pic>
      <p:pic>
        <p:nvPicPr>
          <p:cNvPr id="334" name="Google Shape;334;p40" title="label_sap_height2.jpeg"/>
          <p:cNvPicPr preferRelativeResize="0"/>
          <p:nvPr/>
        </p:nvPicPr>
        <p:blipFill rotWithShape="1">
          <a:blip r:embed="rId4">
            <a:alphaModFix/>
          </a:blip>
          <a:srcRect b="0" l="0" r="0" t="0"/>
          <a:stretch/>
        </p:blipFill>
        <p:spPr>
          <a:xfrm>
            <a:off x="220100" y="870350"/>
            <a:ext cx="4622228" cy="3697824"/>
          </a:xfrm>
          <a:prstGeom prst="rect">
            <a:avLst/>
          </a:prstGeom>
          <a:noFill/>
          <a:ln>
            <a:noFill/>
          </a:ln>
        </p:spPr>
      </p:pic>
      <p:pic>
        <p:nvPicPr>
          <p:cNvPr id="335" name="Google Shape;335;p40" title="Bildschirmfoto 2026-03-12 um 11.43.09.png"/>
          <p:cNvPicPr preferRelativeResize="0"/>
          <p:nvPr/>
        </p:nvPicPr>
        <p:blipFill>
          <a:blip r:embed="rId5">
            <a:alphaModFix/>
          </a:blip>
          <a:stretch>
            <a:fillRect/>
          </a:stretch>
        </p:blipFill>
        <p:spPr>
          <a:xfrm>
            <a:off x="5109174" y="3259068"/>
            <a:ext cx="508400" cy="457582"/>
          </a:xfrm>
          <a:prstGeom prst="rect">
            <a:avLst/>
          </a:prstGeom>
          <a:noFill/>
          <a:ln>
            <a:noFill/>
          </a:ln>
        </p:spPr>
      </p:pic>
      <p:sp>
        <p:nvSpPr>
          <p:cNvPr id="336" name="Google Shape;336;p40"/>
          <p:cNvSpPr txBox="1"/>
          <p:nvPr/>
        </p:nvSpPr>
        <p:spPr>
          <a:xfrm>
            <a:off x="311700" y="4613125"/>
            <a:ext cx="43299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200">
                <a:solidFill>
                  <a:srgbClr val="333333"/>
                </a:solidFill>
                <a:latin typeface="Open Sans Light"/>
                <a:ea typeface="Open Sans Light"/>
                <a:cs typeface="Open Sans Light"/>
                <a:sym typeface="Open Sans Light"/>
              </a:rPr>
              <a:t>Label signal threshold following Kühnhammer et al. (2023): </a:t>
            </a:r>
            <a:endParaRPr sz="1200">
              <a:solidFill>
                <a:srgbClr val="333333"/>
              </a:solidFill>
              <a:latin typeface="Open Sans Light"/>
              <a:ea typeface="Open Sans Light"/>
              <a:cs typeface="Open Sans Light"/>
              <a:sym typeface="Open Sans Light"/>
            </a:endParaRPr>
          </a:p>
          <a:p>
            <a:pPr indent="0" lvl="0" marL="0" rtl="0" algn="ctr">
              <a:spcBef>
                <a:spcPts val="0"/>
              </a:spcBef>
              <a:spcAft>
                <a:spcPts val="0"/>
              </a:spcAft>
              <a:buNone/>
            </a:pPr>
            <a:r>
              <a:rPr lang="de" sz="1200">
                <a:solidFill>
                  <a:srgbClr val="333333"/>
                </a:solidFill>
                <a:latin typeface="Open Sans Light"/>
                <a:ea typeface="Open Sans Light"/>
                <a:cs typeface="Open Sans Light"/>
                <a:sym typeface="Open Sans Light"/>
              </a:rPr>
              <a:t>mean(pre-label) + 3* sd(pre-label) </a:t>
            </a:r>
            <a:endParaRPr sz="1200">
              <a:solidFill>
                <a:srgbClr val="333333"/>
              </a:solidFill>
              <a:latin typeface="Open Sans Light"/>
              <a:ea typeface="Open Sans Light"/>
              <a:cs typeface="Open Sans Light"/>
              <a:sym typeface="Open Sans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Limitations</a:t>
            </a:r>
            <a:endParaRPr/>
          </a:p>
        </p:txBody>
      </p:sp>
      <p:sp>
        <p:nvSpPr>
          <p:cNvPr id="342" name="Google Shape;34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de"/>
              <a:t>Measurement and processing uncertainties, e.g.: </a:t>
            </a:r>
            <a:br>
              <a:rPr lang="de"/>
            </a:br>
            <a:endParaRPr/>
          </a:p>
          <a:p>
            <a:pPr indent="-292100" lvl="1" marL="914400" rtl="0" algn="l">
              <a:spcBef>
                <a:spcPts val="0"/>
              </a:spcBef>
              <a:spcAft>
                <a:spcPts val="0"/>
              </a:spcAft>
              <a:buSzPts val="1000"/>
              <a:buChar char="○"/>
            </a:pPr>
            <a:r>
              <a:rPr lang="de">
                <a:latin typeface="Open Sans Medium"/>
                <a:ea typeface="Open Sans Medium"/>
                <a:cs typeface="Open Sans Medium"/>
                <a:sym typeface="Open Sans Medium"/>
              </a:rPr>
              <a:t>Water Potential</a:t>
            </a:r>
            <a:r>
              <a:rPr lang="de"/>
              <a:t> measured by different people </a:t>
            </a:r>
            <a:endParaRPr/>
          </a:p>
          <a:p>
            <a:pPr indent="-292100" lvl="1" marL="914400" rtl="0" algn="l">
              <a:spcBef>
                <a:spcPts val="0"/>
              </a:spcBef>
              <a:spcAft>
                <a:spcPts val="0"/>
              </a:spcAft>
              <a:buSzPts val="1000"/>
              <a:buChar char="○"/>
            </a:pPr>
            <a:r>
              <a:rPr lang="de">
                <a:latin typeface="Open Sans Medium"/>
                <a:ea typeface="Open Sans Medium"/>
                <a:cs typeface="Open Sans Medium"/>
                <a:sym typeface="Open Sans Medium"/>
              </a:rPr>
              <a:t>Sap flow</a:t>
            </a:r>
            <a:r>
              <a:rPr lang="de"/>
              <a:t> calculations based on estimated parameters</a:t>
            </a:r>
            <a:endParaRPr/>
          </a:p>
          <a:p>
            <a:pPr indent="-292100" lvl="1" marL="914400" rtl="0" algn="l">
              <a:spcBef>
                <a:spcPts val="0"/>
              </a:spcBef>
              <a:spcAft>
                <a:spcPts val="0"/>
              </a:spcAft>
              <a:buSzPts val="1000"/>
              <a:buChar char="○"/>
            </a:pPr>
            <a:r>
              <a:rPr lang="de">
                <a:latin typeface="Open Sans Medium"/>
                <a:ea typeface="Open Sans Medium"/>
                <a:cs typeface="Open Sans Medium"/>
                <a:sym typeface="Open Sans Medium"/>
              </a:rPr>
              <a:t>Cryogenic vacuum extraction</a:t>
            </a:r>
            <a:r>
              <a:rPr lang="de"/>
              <a:t> uncertainties (Haberstroh et al., 2024)</a:t>
            </a:r>
            <a:endParaRPr/>
          </a:p>
          <a:p>
            <a:pPr indent="-292100" lvl="1" marL="914400" rtl="0" algn="l">
              <a:spcBef>
                <a:spcPts val="0"/>
              </a:spcBef>
              <a:spcAft>
                <a:spcPts val="0"/>
              </a:spcAft>
              <a:buSzPts val="1000"/>
              <a:buChar char="○"/>
            </a:pPr>
            <a:r>
              <a:rPr lang="de">
                <a:latin typeface="Open Sans Medium"/>
                <a:ea typeface="Open Sans Medium"/>
                <a:cs typeface="Open Sans Medium"/>
                <a:sym typeface="Open Sans Medium"/>
              </a:rPr>
              <a:t>Piccaro</a:t>
            </a:r>
            <a:r>
              <a:rPr lang="de"/>
              <a:t> drift </a:t>
            </a:r>
            <a:br>
              <a:rPr lang="de"/>
            </a:br>
            <a:endParaRPr/>
          </a:p>
          <a:p>
            <a:pPr indent="-304800" lvl="0" marL="457200" rtl="0" algn="l">
              <a:spcBef>
                <a:spcPts val="0"/>
              </a:spcBef>
              <a:spcAft>
                <a:spcPts val="0"/>
              </a:spcAft>
              <a:buSzPts val="1200"/>
              <a:buChar char="●"/>
            </a:pPr>
            <a:r>
              <a:rPr lang="de"/>
              <a:t>MixSIAR: </a:t>
            </a:r>
            <a:r>
              <a:rPr lang="de"/>
              <a:t>few replicates </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
        <p:nvSpPr>
          <p:cNvPr id="343" name="Google Shape;34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2"/>
          <p:cNvSpPr txBox="1"/>
          <p:nvPr>
            <p:ph idx="1" type="body"/>
          </p:nvPr>
        </p:nvSpPr>
        <p:spPr>
          <a:xfrm>
            <a:off x="311700" y="321680"/>
            <a:ext cx="8520600" cy="133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sz="2200">
                <a:latin typeface="Open Sans"/>
                <a:ea typeface="Open Sans"/>
                <a:cs typeface="Open Sans"/>
                <a:sym typeface="Open Sans"/>
              </a:rPr>
              <a:t>Outlook </a:t>
            </a:r>
            <a:endParaRPr b="1" sz="2200">
              <a:latin typeface="Open Sans"/>
              <a:ea typeface="Open Sans"/>
              <a:cs typeface="Open Sans"/>
              <a:sym typeface="Open Sans"/>
            </a:endParaRPr>
          </a:p>
          <a:p>
            <a:pPr indent="-342900" lvl="0" marL="457200" rtl="0" algn="l">
              <a:spcBef>
                <a:spcPts val="1200"/>
              </a:spcBef>
              <a:spcAft>
                <a:spcPts val="0"/>
              </a:spcAft>
              <a:buSzPts val="1800"/>
              <a:buAutoNum type="arabicPeriod"/>
            </a:pPr>
            <a:r>
              <a:rPr lang="de"/>
              <a:t>Measurements for a few more days</a:t>
            </a:r>
            <a:endParaRPr/>
          </a:p>
          <a:p>
            <a:pPr indent="-342900" lvl="0" marL="457200" rtl="0" algn="l">
              <a:spcBef>
                <a:spcPts val="0"/>
              </a:spcBef>
              <a:spcAft>
                <a:spcPts val="0"/>
              </a:spcAft>
              <a:buSzPts val="1800"/>
              <a:buAutoNum type="arabicPeriod"/>
            </a:pPr>
            <a:r>
              <a:rPr lang="de"/>
              <a:t>Transition period from winter to spring compared to summer period</a:t>
            </a:r>
            <a:endParaRPr/>
          </a:p>
        </p:txBody>
      </p:sp>
      <p:sp>
        <p:nvSpPr>
          <p:cNvPr id="349" name="Google Shape;349;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
        <p:nvSpPr>
          <p:cNvPr id="350" name="Google Shape;350;p42"/>
          <p:cNvSpPr txBox="1"/>
          <p:nvPr>
            <p:ph idx="1" type="body"/>
          </p:nvPr>
        </p:nvSpPr>
        <p:spPr>
          <a:xfrm>
            <a:off x="311725" y="1759244"/>
            <a:ext cx="8520600" cy="598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de" sz="2416">
                <a:latin typeface="Open Sans"/>
                <a:ea typeface="Open Sans"/>
                <a:cs typeface="Open Sans"/>
                <a:sym typeface="Open Sans"/>
              </a:rPr>
              <a:t>Key findings</a:t>
            </a:r>
            <a:endParaRPr/>
          </a:p>
        </p:txBody>
      </p:sp>
      <p:sp>
        <p:nvSpPr>
          <p:cNvPr id="351" name="Google Shape;351;p42"/>
          <p:cNvSpPr txBox="1"/>
          <p:nvPr/>
        </p:nvSpPr>
        <p:spPr>
          <a:xfrm>
            <a:off x="214150" y="3407150"/>
            <a:ext cx="2611200" cy="153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de" sz="1900">
                <a:solidFill>
                  <a:srgbClr val="333333"/>
                </a:solidFill>
                <a:latin typeface="Open Sans Light"/>
                <a:ea typeface="Open Sans Light"/>
                <a:cs typeface="Open Sans Light"/>
                <a:sym typeface="Open Sans Light"/>
              </a:rPr>
              <a:t>Onset of favorable weather conditions result in fast eco-</a:t>
            </a:r>
            <a:endParaRPr sz="1900">
              <a:solidFill>
                <a:srgbClr val="333333"/>
              </a:solidFill>
              <a:latin typeface="Open Sans Light"/>
              <a:ea typeface="Open Sans Light"/>
              <a:cs typeface="Open Sans Light"/>
              <a:sym typeface="Open Sans Light"/>
            </a:endParaRPr>
          </a:p>
          <a:p>
            <a:pPr indent="0" lvl="0" marL="0" rtl="0" algn="ctr">
              <a:lnSpc>
                <a:spcPct val="115000"/>
              </a:lnSpc>
              <a:spcBef>
                <a:spcPts val="0"/>
              </a:spcBef>
              <a:spcAft>
                <a:spcPts val="0"/>
              </a:spcAft>
              <a:buNone/>
            </a:pPr>
            <a:r>
              <a:rPr lang="de" sz="1900">
                <a:solidFill>
                  <a:srgbClr val="333333"/>
                </a:solidFill>
                <a:latin typeface="Open Sans Light"/>
                <a:ea typeface="Open Sans Light"/>
                <a:cs typeface="Open Sans Light"/>
                <a:sym typeface="Open Sans Light"/>
              </a:rPr>
              <a:t>hydrological response</a:t>
            </a:r>
            <a:endParaRPr sz="1800">
              <a:solidFill>
                <a:srgbClr val="333333"/>
              </a:solidFill>
              <a:latin typeface="Open Sans Light"/>
              <a:ea typeface="Open Sans Light"/>
              <a:cs typeface="Open Sans Light"/>
              <a:sym typeface="Open Sans Light"/>
            </a:endParaRPr>
          </a:p>
        </p:txBody>
      </p:sp>
      <p:pic>
        <p:nvPicPr>
          <p:cNvPr id="352" name="Google Shape;352;p42" title="Design ohne Titel(2).png"/>
          <p:cNvPicPr preferRelativeResize="0"/>
          <p:nvPr/>
        </p:nvPicPr>
        <p:blipFill>
          <a:blip r:embed="rId3">
            <a:alphaModFix/>
          </a:blip>
          <a:stretch>
            <a:fillRect/>
          </a:stretch>
        </p:blipFill>
        <p:spPr>
          <a:xfrm>
            <a:off x="1074175" y="2357450"/>
            <a:ext cx="891153" cy="1049700"/>
          </a:xfrm>
          <a:prstGeom prst="rect">
            <a:avLst/>
          </a:prstGeom>
          <a:noFill/>
          <a:ln>
            <a:noFill/>
          </a:ln>
        </p:spPr>
      </p:pic>
      <p:pic>
        <p:nvPicPr>
          <p:cNvPr id="353" name="Google Shape;353;p42" title="Design ohne Titel(1).png"/>
          <p:cNvPicPr preferRelativeResize="0"/>
          <p:nvPr/>
        </p:nvPicPr>
        <p:blipFill>
          <a:blip r:embed="rId4">
            <a:alphaModFix/>
          </a:blip>
          <a:stretch>
            <a:fillRect/>
          </a:stretch>
        </p:blipFill>
        <p:spPr>
          <a:xfrm>
            <a:off x="3717712" y="2087375"/>
            <a:ext cx="1810525" cy="1453175"/>
          </a:xfrm>
          <a:prstGeom prst="rect">
            <a:avLst/>
          </a:prstGeom>
          <a:noFill/>
          <a:ln>
            <a:noFill/>
          </a:ln>
        </p:spPr>
      </p:pic>
      <p:sp>
        <p:nvSpPr>
          <p:cNvPr id="354" name="Google Shape;354;p42"/>
          <p:cNvSpPr txBox="1"/>
          <p:nvPr/>
        </p:nvSpPr>
        <p:spPr>
          <a:xfrm>
            <a:off x="2938350" y="3474956"/>
            <a:ext cx="3267300" cy="864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de" sz="1900">
                <a:solidFill>
                  <a:srgbClr val="333333"/>
                </a:solidFill>
                <a:latin typeface="Open Sans Light"/>
                <a:ea typeface="Open Sans Light"/>
                <a:cs typeface="Open Sans Light"/>
                <a:sym typeface="Open Sans Light"/>
              </a:rPr>
              <a:t>Pronounced differences of water uptake strategies between Douglas fir and Scots pine </a:t>
            </a:r>
            <a:endParaRPr sz="1800">
              <a:solidFill>
                <a:srgbClr val="333333"/>
              </a:solidFill>
              <a:latin typeface="Open Sans Light"/>
              <a:ea typeface="Open Sans Light"/>
              <a:cs typeface="Open Sans Light"/>
              <a:sym typeface="Open Sans Light"/>
            </a:endParaRPr>
          </a:p>
        </p:txBody>
      </p:sp>
      <p:sp>
        <p:nvSpPr>
          <p:cNvPr id="355" name="Google Shape;355;p42"/>
          <p:cNvSpPr txBox="1"/>
          <p:nvPr/>
        </p:nvSpPr>
        <p:spPr>
          <a:xfrm>
            <a:off x="6420600" y="3407150"/>
            <a:ext cx="2411700" cy="864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de" sz="1900">
                <a:solidFill>
                  <a:srgbClr val="333333"/>
                </a:solidFill>
                <a:latin typeface="Open Sans Light"/>
                <a:ea typeface="Open Sans Light"/>
                <a:cs typeface="Open Sans Light"/>
                <a:sym typeface="Open Sans Light"/>
              </a:rPr>
              <a:t>Measurement techniques indicate different speed in water transport </a:t>
            </a:r>
            <a:endParaRPr sz="1900">
              <a:solidFill>
                <a:srgbClr val="333333"/>
              </a:solidFill>
              <a:latin typeface="Open Sans Light"/>
              <a:ea typeface="Open Sans Light"/>
              <a:cs typeface="Open Sans Light"/>
              <a:sym typeface="Open Sans Light"/>
            </a:endParaRPr>
          </a:p>
          <a:p>
            <a:pPr indent="0" lvl="0" marL="0" rtl="0" algn="ctr">
              <a:lnSpc>
                <a:spcPct val="115000"/>
              </a:lnSpc>
              <a:spcBef>
                <a:spcPts val="1200"/>
              </a:spcBef>
              <a:spcAft>
                <a:spcPts val="0"/>
              </a:spcAft>
              <a:buClr>
                <a:schemeClr val="dk1"/>
              </a:buClr>
              <a:buSzPts val="1100"/>
              <a:buFont typeface="Arial"/>
              <a:buNone/>
            </a:pPr>
            <a:r>
              <a:t/>
            </a:r>
            <a:endParaRPr sz="1800">
              <a:solidFill>
                <a:srgbClr val="333333"/>
              </a:solidFill>
              <a:latin typeface="Open Sans Light"/>
              <a:ea typeface="Open Sans Light"/>
              <a:cs typeface="Open Sans Light"/>
              <a:sym typeface="Open Sans Light"/>
            </a:endParaRPr>
          </a:p>
          <a:p>
            <a:pPr indent="0" lvl="0" marL="0" rtl="0" algn="ctr">
              <a:spcBef>
                <a:spcPts val="1200"/>
              </a:spcBef>
              <a:spcAft>
                <a:spcPts val="0"/>
              </a:spcAft>
              <a:buNone/>
            </a:pPr>
            <a:r>
              <a:t/>
            </a:r>
            <a:endParaRPr sz="1800">
              <a:solidFill>
                <a:srgbClr val="333333"/>
              </a:solidFill>
              <a:latin typeface="Open Sans Light"/>
              <a:ea typeface="Open Sans Light"/>
              <a:cs typeface="Open Sans Light"/>
              <a:sym typeface="Open Sans Light"/>
            </a:endParaRPr>
          </a:p>
        </p:txBody>
      </p:sp>
      <p:pic>
        <p:nvPicPr>
          <p:cNvPr id="356" name="Google Shape;356;p42" title="Design ohne Titel(3).png"/>
          <p:cNvPicPr preferRelativeResize="0"/>
          <p:nvPr/>
        </p:nvPicPr>
        <p:blipFill>
          <a:blip r:embed="rId5">
            <a:alphaModFix/>
          </a:blip>
          <a:stretch>
            <a:fillRect/>
          </a:stretch>
        </p:blipFill>
        <p:spPr>
          <a:xfrm>
            <a:off x="7280601" y="2175400"/>
            <a:ext cx="766750" cy="1277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References</a:t>
            </a:r>
            <a:endParaRPr/>
          </a:p>
        </p:txBody>
      </p:sp>
      <p:sp>
        <p:nvSpPr>
          <p:cNvPr id="362" name="Google Shape;362;p43"/>
          <p:cNvSpPr txBox="1"/>
          <p:nvPr>
            <p:ph idx="1" type="body"/>
          </p:nvPr>
        </p:nvSpPr>
        <p:spPr>
          <a:xfrm>
            <a:off x="311700" y="1133425"/>
            <a:ext cx="8520600" cy="3705300"/>
          </a:xfrm>
          <a:prstGeom prst="rect">
            <a:avLst/>
          </a:prstGeom>
        </p:spPr>
        <p:txBody>
          <a:bodyPr anchorCtr="0" anchor="t" bIns="91425" lIns="91425" spcFirstLastPara="1" rIns="91425" wrap="square" tIns="91425">
            <a:normAutofit fontScale="40000"/>
          </a:bodyPr>
          <a:lstStyle/>
          <a:p>
            <a:pPr indent="0" lvl="0" marL="0" rtl="0" algn="l">
              <a:spcBef>
                <a:spcPts val="0"/>
              </a:spcBef>
              <a:spcAft>
                <a:spcPts val="0"/>
              </a:spcAft>
              <a:buNone/>
            </a:pPr>
            <a:r>
              <a:rPr lang="de"/>
              <a:t>Bourbia, I., &amp; Brodribb, T. J. (2023). A new technique for monitoring plant transpiration under field conditions using leaf optical dendrometry. Agricultural and Forest Meteorology, 331, 109328.</a:t>
            </a:r>
            <a:endParaRPr/>
          </a:p>
          <a:p>
            <a:pPr indent="0" lvl="0" marL="0" rtl="0" algn="l">
              <a:spcBef>
                <a:spcPts val="1200"/>
              </a:spcBef>
              <a:spcAft>
                <a:spcPts val="0"/>
              </a:spcAft>
              <a:buNone/>
            </a:pPr>
            <a:r>
              <a:rPr lang="de"/>
              <a:t>Ford, C. R., McGuire, M. A., Mitchell, R. J., &amp; Teskey, R. O. (2004). Assessing variation in the radial profile of sap flux density in Pinus species and its effect on daily water use. Tree physiology, 24(3), 241-249.</a:t>
            </a:r>
            <a:endParaRPr/>
          </a:p>
          <a:p>
            <a:pPr indent="0" lvl="0" marL="0" rtl="0" algn="l">
              <a:spcBef>
                <a:spcPts val="1200"/>
              </a:spcBef>
              <a:spcAft>
                <a:spcPts val="0"/>
              </a:spcAft>
              <a:buNone/>
            </a:pPr>
            <a:r>
              <a:rPr lang="de"/>
              <a:t>Haberstroh, S., &amp; Werner, C. (2022). The role of species interactions for forest resilience to drought. Plant Biology, 24(7), 1098-1107.</a:t>
            </a:r>
            <a:endParaRPr/>
          </a:p>
          <a:p>
            <a:pPr indent="0" lvl="0" marL="0" rtl="0" algn="l">
              <a:spcBef>
                <a:spcPts val="1200"/>
              </a:spcBef>
              <a:spcAft>
                <a:spcPts val="0"/>
              </a:spcAft>
              <a:buNone/>
            </a:pPr>
            <a:r>
              <a:rPr lang="de"/>
              <a:t>Haberstroh, S., Kübert, A., &amp; Werner, C. (2024). Two common pitfalls in the analysis of water‐stable isotopologues with cryogenic vacuum extraction and cavity ring‐down spectroscopy. Analytical science advances, 5(3-4), 2300053.</a:t>
            </a:r>
            <a:endParaRPr/>
          </a:p>
          <a:p>
            <a:pPr indent="0" lvl="0" marL="0" rtl="0" algn="l">
              <a:spcBef>
                <a:spcPts val="1200"/>
              </a:spcBef>
              <a:spcAft>
                <a:spcPts val="0"/>
              </a:spcAft>
              <a:buNone/>
            </a:pPr>
            <a:r>
              <a:rPr lang="de"/>
              <a:t>Jasechko, S., Sharp, Z. D., Gibson, J. J., Birks, S. J., Yi, Y., &amp; Fawcett, P. J. (2013). Terrestrial water fluxes dominated by transpiration. Nature, 496(7445), 347-350.</a:t>
            </a:r>
            <a:endParaRPr/>
          </a:p>
          <a:p>
            <a:pPr indent="0" lvl="0" marL="0" rtl="0" algn="l">
              <a:spcBef>
                <a:spcPts val="1200"/>
              </a:spcBef>
              <a:spcAft>
                <a:spcPts val="0"/>
              </a:spcAft>
              <a:buNone/>
            </a:pPr>
            <a:r>
              <a:rPr lang="de"/>
              <a:t>Kühnhammer, K., van Haren, J., Kübert, A., Bailey, K., Dubbert, M., Hu, J., ... &amp; Beyer, M. (2023). Deep roots mitigate drought impacts on tropical trees despite limited quantitative contribution to transpiration. Science of the Total Environment, 893, 164763.</a:t>
            </a:r>
            <a:endParaRPr/>
          </a:p>
          <a:p>
            <a:pPr indent="0" lvl="0" marL="0" rtl="0" algn="l">
              <a:spcBef>
                <a:spcPts val="1200"/>
              </a:spcBef>
              <a:spcAft>
                <a:spcPts val="0"/>
              </a:spcAft>
              <a:buNone/>
            </a:pPr>
            <a:r>
              <a:rPr lang="de"/>
              <a:t>Nadezhdina, N., Čermák, J., &amp; Ceulemans, R. (2002). Radial patterns of sap flow in woody stems of dominant and understory species: scaling errors associated with positioning of sensors. Tree physiology, 22(13), 907-918.</a:t>
            </a:r>
            <a:endParaRPr/>
          </a:p>
          <a:p>
            <a:pPr indent="0" lvl="0" marL="0" rtl="0" algn="l">
              <a:spcBef>
                <a:spcPts val="1200"/>
              </a:spcBef>
              <a:spcAft>
                <a:spcPts val="0"/>
              </a:spcAft>
              <a:buClr>
                <a:schemeClr val="dk1"/>
              </a:buClr>
              <a:buSzPct val="61111"/>
              <a:buFont typeface="Arial"/>
              <a:buNone/>
            </a:pPr>
            <a:r>
              <a:rPr lang="de"/>
              <a:t>Stock, B., Semmens, B., Ward, E., Parnell, A., Jackson, A., &amp; Phillips, D. (2018). Package ‘MixSIAR’. Bayesian mixing model s in R, Version, 3(10).</a:t>
            </a:r>
            <a:endParaRPr/>
          </a:p>
          <a:p>
            <a:pPr indent="0" lvl="0" marL="0" rtl="0" algn="l">
              <a:spcBef>
                <a:spcPts val="1200"/>
              </a:spcBef>
              <a:spcAft>
                <a:spcPts val="0"/>
              </a:spcAft>
              <a:buNone/>
            </a:pPr>
            <a:r>
              <a:rPr lang="de"/>
              <a:t>Thomas, F. M., Rzepecki, A., &amp; Werner, W. (2021). Non-native Douglas fir (Pseudotsuga menziesii) in Central Europe: ecology, performance and nature conservation. For. Ecol. Manag. 506, 119956.</a:t>
            </a:r>
            <a:endParaRPr/>
          </a:p>
          <a:p>
            <a:pPr indent="0" lvl="0" marL="0" rtl="0" algn="l">
              <a:spcBef>
                <a:spcPts val="1200"/>
              </a:spcBef>
              <a:spcAft>
                <a:spcPts val="0"/>
              </a:spcAft>
              <a:buNone/>
            </a:pPr>
            <a:r>
              <a:rPr lang="de">
                <a:highlight>
                  <a:schemeClr val="lt1"/>
                </a:highlight>
              </a:rPr>
              <a:t>Werner, C., Meredith, L. K., Ladd, S. N., Ingrisch, J., Kübert, A., Van Haren, J., ... &amp; Williams, J. (2021). Ecosystem fluxes during drought and recovery in an experimental forest. Science, 374(6574), 1514-1518.</a:t>
            </a:r>
            <a:endParaRPr>
              <a:highlight>
                <a:schemeClr val="lt1"/>
              </a:highlight>
            </a:endParaRPr>
          </a:p>
          <a:p>
            <a:pPr indent="0" lvl="0" marL="0" rtl="0" algn="l">
              <a:spcBef>
                <a:spcPts val="1200"/>
              </a:spcBef>
              <a:spcAft>
                <a:spcPts val="1200"/>
              </a:spcAft>
              <a:buNone/>
            </a:pPr>
            <a:r>
              <a:rPr lang="de">
                <a:highlight>
                  <a:schemeClr val="lt1"/>
                </a:highlight>
              </a:rPr>
              <a:t>U.S. Geological Survey: Evapotranspiration is the sum of plant transpiration and evaporation. Available at: https://www.usgs.gov/media/images/evapotranspiration-sum-plant-transpiration-and-evaporation</a:t>
            </a:r>
            <a:endParaRPr>
              <a:highlight>
                <a:schemeClr val="lt1"/>
              </a:highlight>
            </a:endParaRPr>
          </a:p>
        </p:txBody>
      </p:sp>
      <p:sp>
        <p:nvSpPr>
          <p:cNvPr id="363" name="Google Shape;36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Thanks for your attention! </a:t>
            </a:r>
            <a:endParaRPr/>
          </a:p>
        </p:txBody>
      </p:sp>
      <p:sp>
        <p:nvSpPr>
          <p:cNvPr id="369" name="Google Shape;369;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grpSp>
        <p:nvGrpSpPr>
          <p:cNvPr id="370" name="Google Shape;370;p44"/>
          <p:cNvGrpSpPr/>
          <p:nvPr/>
        </p:nvGrpSpPr>
        <p:grpSpPr>
          <a:xfrm>
            <a:off x="66223" y="1825344"/>
            <a:ext cx="4364282" cy="2030220"/>
            <a:chOff x="1704077" y="1017725"/>
            <a:chExt cx="3869387" cy="1800000"/>
          </a:xfrm>
        </p:grpSpPr>
        <p:pic>
          <p:nvPicPr>
            <p:cNvPr id="371" name="Google Shape;371;p44" title="D1.jpg"/>
            <p:cNvPicPr preferRelativeResize="0"/>
            <p:nvPr/>
          </p:nvPicPr>
          <p:blipFill>
            <a:blip r:embed="rId3">
              <a:alphaModFix/>
            </a:blip>
            <a:stretch>
              <a:fillRect/>
            </a:stretch>
          </p:blipFill>
          <p:spPr>
            <a:xfrm>
              <a:off x="1704077" y="1017725"/>
              <a:ext cx="1350559" cy="1800000"/>
            </a:xfrm>
            <a:prstGeom prst="rect">
              <a:avLst/>
            </a:prstGeom>
            <a:noFill/>
            <a:ln>
              <a:noFill/>
            </a:ln>
          </p:spPr>
        </p:pic>
        <p:pic>
          <p:nvPicPr>
            <p:cNvPr id="372" name="Google Shape;372;p44" title="D2.jpg"/>
            <p:cNvPicPr preferRelativeResize="0"/>
            <p:nvPr/>
          </p:nvPicPr>
          <p:blipFill>
            <a:blip r:embed="rId4">
              <a:alphaModFix/>
            </a:blip>
            <a:stretch>
              <a:fillRect/>
            </a:stretch>
          </p:blipFill>
          <p:spPr>
            <a:xfrm>
              <a:off x="3054634" y="1017725"/>
              <a:ext cx="1168831" cy="1800000"/>
            </a:xfrm>
            <a:prstGeom prst="rect">
              <a:avLst/>
            </a:prstGeom>
            <a:noFill/>
            <a:ln>
              <a:noFill/>
            </a:ln>
          </p:spPr>
        </p:pic>
        <p:pic>
          <p:nvPicPr>
            <p:cNvPr id="373" name="Google Shape;373;p44" title="D3.jpg"/>
            <p:cNvPicPr preferRelativeResize="0"/>
            <p:nvPr/>
          </p:nvPicPr>
          <p:blipFill>
            <a:blip r:embed="rId5">
              <a:alphaModFix/>
            </a:blip>
            <a:stretch>
              <a:fillRect/>
            </a:stretch>
          </p:blipFill>
          <p:spPr>
            <a:xfrm>
              <a:off x="4223464" y="1017725"/>
              <a:ext cx="1350000" cy="1800000"/>
            </a:xfrm>
            <a:prstGeom prst="rect">
              <a:avLst/>
            </a:prstGeom>
            <a:noFill/>
            <a:ln>
              <a:noFill/>
            </a:ln>
          </p:spPr>
        </p:pic>
      </p:grpSp>
      <p:grpSp>
        <p:nvGrpSpPr>
          <p:cNvPr id="374" name="Google Shape;374;p44"/>
          <p:cNvGrpSpPr/>
          <p:nvPr/>
        </p:nvGrpSpPr>
        <p:grpSpPr>
          <a:xfrm>
            <a:off x="4505598" y="1825355"/>
            <a:ext cx="4569069" cy="2030220"/>
            <a:chOff x="1487938" y="3175775"/>
            <a:chExt cx="4050952" cy="1800000"/>
          </a:xfrm>
        </p:grpSpPr>
        <p:pic>
          <p:nvPicPr>
            <p:cNvPr id="375" name="Google Shape;375;p44" title="K1.jpg"/>
            <p:cNvPicPr preferRelativeResize="0"/>
            <p:nvPr/>
          </p:nvPicPr>
          <p:blipFill>
            <a:blip r:embed="rId6">
              <a:alphaModFix/>
            </a:blip>
            <a:stretch>
              <a:fillRect/>
            </a:stretch>
          </p:blipFill>
          <p:spPr>
            <a:xfrm>
              <a:off x="1487938" y="3175775"/>
              <a:ext cx="1350314" cy="1800000"/>
            </a:xfrm>
            <a:prstGeom prst="rect">
              <a:avLst/>
            </a:prstGeom>
            <a:noFill/>
            <a:ln>
              <a:noFill/>
            </a:ln>
          </p:spPr>
        </p:pic>
        <p:pic>
          <p:nvPicPr>
            <p:cNvPr id="376" name="Google Shape;376;p44" title="K2.jpg"/>
            <p:cNvPicPr preferRelativeResize="0"/>
            <p:nvPr/>
          </p:nvPicPr>
          <p:blipFill>
            <a:blip r:embed="rId7">
              <a:alphaModFix/>
            </a:blip>
            <a:stretch>
              <a:fillRect/>
            </a:stretch>
          </p:blipFill>
          <p:spPr>
            <a:xfrm>
              <a:off x="2838250" y="3175775"/>
              <a:ext cx="1350314" cy="1800000"/>
            </a:xfrm>
            <a:prstGeom prst="rect">
              <a:avLst/>
            </a:prstGeom>
            <a:noFill/>
            <a:ln>
              <a:noFill/>
            </a:ln>
          </p:spPr>
        </p:pic>
        <p:pic>
          <p:nvPicPr>
            <p:cNvPr id="377" name="Google Shape;377;p44" title="K3.jpg"/>
            <p:cNvPicPr preferRelativeResize="0"/>
            <p:nvPr/>
          </p:nvPicPr>
          <p:blipFill>
            <a:blip r:embed="rId8">
              <a:alphaModFix/>
            </a:blip>
            <a:stretch>
              <a:fillRect/>
            </a:stretch>
          </p:blipFill>
          <p:spPr>
            <a:xfrm>
              <a:off x="4188575" y="3175775"/>
              <a:ext cx="1350314" cy="1800000"/>
            </a:xfrm>
            <a:prstGeom prst="rect">
              <a:avLst/>
            </a:prstGeom>
            <a:noFill/>
            <a:ln>
              <a:noFill/>
            </a:ln>
          </p:spPr>
        </p:pic>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1" name="Shape 381"/>
        <p:cNvGrpSpPr/>
        <p:nvPr/>
      </p:nvGrpSpPr>
      <p:grpSpPr>
        <a:xfrm>
          <a:off x="0" y="0"/>
          <a:ext cx="0" cy="0"/>
          <a:chOff x="0" y="0"/>
          <a:chExt cx="0" cy="0"/>
        </a:xfrm>
      </p:grpSpPr>
      <p:sp>
        <p:nvSpPr>
          <p:cNvPr id="382" name="Google Shape;38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Hypothesis 2</a:t>
            </a:r>
            <a:endParaRPr/>
          </a:p>
        </p:txBody>
      </p:sp>
      <p:sp>
        <p:nvSpPr>
          <p:cNvPr id="383" name="Google Shape;383;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de" sz="1400"/>
              <a:t>Partially correct. Sap flow does not align with the results of water potential and isotopic label detection. </a:t>
            </a:r>
            <a:endParaRPr sz="1400"/>
          </a:p>
          <a:p>
            <a:pPr indent="0" lvl="0" marL="0" rtl="0" algn="l">
              <a:spcBef>
                <a:spcPts val="1200"/>
              </a:spcBef>
              <a:spcAft>
                <a:spcPts val="0"/>
              </a:spcAft>
              <a:buClr>
                <a:schemeClr val="dk1"/>
              </a:buClr>
              <a:buSzPts val="1100"/>
              <a:buFont typeface="Arial"/>
              <a:buNone/>
            </a:pPr>
            <a:r>
              <a:rPr lang="de" sz="1200"/>
              <a:t>Possible explanations</a:t>
            </a:r>
            <a:endParaRPr sz="1200"/>
          </a:p>
          <a:p>
            <a:pPr indent="0" lvl="0" marL="0" rtl="0" algn="l">
              <a:spcBef>
                <a:spcPts val="1200"/>
              </a:spcBef>
              <a:spcAft>
                <a:spcPts val="0"/>
              </a:spcAft>
              <a:buNone/>
            </a:pPr>
            <a:r>
              <a:rPr lang="de" sz="1200"/>
              <a:t>Uncertainties in upscaling of sap flow: </a:t>
            </a:r>
            <a:endParaRPr sz="1200"/>
          </a:p>
          <a:p>
            <a:pPr indent="-304800" lvl="1" marL="914400" rtl="0" algn="l">
              <a:spcBef>
                <a:spcPts val="1200"/>
              </a:spcBef>
              <a:spcAft>
                <a:spcPts val="0"/>
              </a:spcAft>
              <a:buSzPts val="1200"/>
              <a:buChar char="-"/>
            </a:pPr>
            <a:r>
              <a:rPr lang="de" sz="1200"/>
              <a:t>high radial variation of sap velocity in pine trees  </a:t>
            </a:r>
            <a:endParaRPr sz="1200"/>
          </a:p>
          <a:p>
            <a:pPr indent="-304800" lvl="1" marL="914400" rtl="0" algn="l">
              <a:spcBef>
                <a:spcPts val="0"/>
              </a:spcBef>
              <a:spcAft>
                <a:spcPts val="0"/>
              </a:spcAft>
              <a:buSzPts val="1200"/>
              <a:buChar char="-"/>
            </a:pPr>
            <a:r>
              <a:rPr lang="de" sz="1200"/>
              <a:t>Scots pine: measured sap flow in outer sap wood much higher than in inner sap wood  -&gt; high variation in radial profile of sap flux density in pine trees also found in the literature (Ford et al. 2007)</a:t>
            </a:r>
            <a:endParaRPr sz="1200"/>
          </a:p>
          <a:p>
            <a:pPr indent="-304800" lvl="1" marL="914400" rtl="0" algn="l">
              <a:spcBef>
                <a:spcPts val="0"/>
              </a:spcBef>
              <a:spcAft>
                <a:spcPts val="0"/>
              </a:spcAft>
              <a:buSzPts val="1200"/>
              <a:buChar char="-"/>
            </a:pPr>
            <a:r>
              <a:rPr lang="de" sz="1200"/>
              <a:t>Douglas fir: sap flow in inner and outer sap wood similar  </a:t>
            </a:r>
            <a:endParaRPr sz="1200"/>
          </a:p>
          <a:p>
            <a:pPr indent="-304800" lvl="1" marL="914400" rtl="0" algn="l">
              <a:spcBef>
                <a:spcPts val="0"/>
              </a:spcBef>
              <a:spcAft>
                <a:spcPts val="0"/>
              </a:spcAft>
              <a:buSzPts val="1200"/>
              <a:buChar char="-"/>
            </a:pPr>
            <a:r>
              <a:rPr lang="de" sz="1200"/>
              <a:t>higher weighting of outer sap flow in calculations of total sap flow could have lead to </a:t>
            </a:r>
            <a:r>
              <a:rPr b="1" lang="de" sz="1200">
                <a:latin typeface="Open Sans"/>
                <a:ea typeface="Open Sans"/>
                <a:cs typeface="Open Sans"/>
                <a:sym typeface="Open Sans"/>
              </a:rPr>
              <a:t>overestimation of sap flow in pine trees</a:t>
            </a:r>
            <a:endParaRPr/>
          </a:p>
        </p:txBody>
      </p:sp>
      <p:sp>
        <p:nvSpPr>
          <p:cNvPr id="384" name="Google Shape;38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385" name="Google Shape;385;p45" title="Bildschirmfoto 2026-03-12 um 11.44.14.png"/>
          <p:cNvPicPr preferRelativeResize="0"/>
          <p:nvPr/>
        </p:nvPicPr>
        <p:blipFill>
          <a:blip r:embed="rId3">
            <a:alphaModFix/>
          </a:blip>
          <a:stretch>
            <a:fillRect/>
          </a:stretch>
        </p:blipFill>
        <p:spPr>
          <a:xfrm>
            <a:off x="8034884" y="662186"/>
            <a:ext cx="508388" cy="572666"/>
          </a:xfrm>
          <a:prstGeom prst="rect">
            <a:avLst/>
          </a:prstGeom>
          <a:noFill/>
          <a:ln>
            <a:noFill/>
          </a:ln>
        </p:spPr>
      </p:pic>
      <p:pic>
        <p:nvPicPr>
          <p:cNvPr id="386" name="Google Shape;386;p45" title="Bildschirmfoto 2026-03-12 um 11.43.09.png"/>
          <p:cNvPicPr preferRelativeResize="0"/>
          <p:nvPr/>
        </p:nvPicPr>
        <p:blipFill>
          <a:blip r:embed="rId4">
            <a:alphaModFix/>
          </a:blip>
          <a:stretch>
            <a:fillRect/>
          </a:stretch>
        </p:blipFill>
        <p:spPr>
          <a:xfrm>
            <a:off x="7398552" y="662159"/>
            <a:ext cx="636323" cy="572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 name="Shape 390"/>
        <p:cNvGrpSpPr/>
        <p:nvPr/>
      </p:nvGrpSpPr>
      <p:grpSpPr>
        <a:xfrm>
          <a:off x="0" y="0"/>
          <a:ext cx="0" cy="0"/>
          <a:chOff x="0" y="0"/>
          <a:chExt cx="0" cy="0"/>
        </a:xfrm>
      </p:grpSpPr>
      <p:sp>
        <p:nvSpPr>
          <p:cNvPr id="391" name="Google Shape;391;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Methods</a:t>
            </a:r>
            <a:endParaRPr/>
          </a:p>
        </p:txBody>
      </p:sp>
      <p:sp>
        <p:nvSpPr>
          <p:cNvPr id="392" name="Google Shape;392;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t>Water Potential:</a:t>
            </a:r>
            <a:r>
              <a:rPr lang="de"/>
              <a:t> </a:t>
            </a:r>
            <a:endParaRPr/>
          </a:p>
          <a:p>
            <a:pPr indent="-305546" lvl="0" marL="457200" rtl="0" algn="l">
              <a:spcBef>
                <a:spcPts val="1200"/>
              </a:spcBef>
              <a:spcAft>
                <a:spcPts val="0"/>
              </a:spcAft>
              <a:buSzPts val="1212"/>
              <a:buChar char="●"/>
            </a:pPr>
            <a:r>
              <a:rPr lang="de"/>
              <a:t>on 3 consecutive days,</a:t>
            </a:r>
            <a:r>
              <a:rPr lang="de"/>
              <a:t> </a:t>
            </a:r>
            <a:r>
              <a:rPr lang="de"/>
              <a:t>measured with a Scholander pressure bomb</a:t>
            </a:r>
            <a:endParaRPr/>
          </a:p>
          <a:p>
            <a:pPr indent="-305546" lvl="0" marL="457200" rtl="0" algn="l">
              <a:spcBef>
                <a:spcPts val="0"/>
              </a:spcBef>
              <a:spcAft>
                <a:spcPts val="0"/>
              </a:spcAft>
              <a:buSzPts val="1212"/>
              <a:buChar char="●"/>
            </a:pPr>
            <a:r>
              <a:rPr lang="de"/>
              <a:t>bagging shoot &gt;1h before measurement with aluminium foil, allows equilibration with stem</a:t>
            </a:r>
            <a:endParaRPr/>
          </a:p>
          <a:p>
            <a:pPr indent="-305546" lvl="0" marL="457200" rtl="0" algn="l">
              <a:spcBef>
                <a:spcPts val="0"/>
              </a:spcBef>
              <a:spcAft>
                <a:spcPts val="0"/>
              </a:spcAft>
              <a:buSzPts val="1212"/>
              <a:buChar char="●"/>
            </a:pPr>
            <a:r>
              <a:rPr lang="de"/>
              <a:t>measurements of 25th of February were excluded due to foggy conditions </a:t>
            </a:r>
            <a:endParaRPr/>
          </a:p>
          <a:p>
            <a:pPr indent="0" lvl="0" marL="0" rtl="0" algn="l">
              <a:spcBef>
                <a:spcPts val="1200"/>
              </a:spcBef>
              <a:spcAft>
                <a:spcPts val="0"/>
              </a:spcAft>
              <a:buNone/>
            </a:pPr>
            <a:r>
              <a:rPr b="1" lang="de"/>
              <a:t>Optical dendrometers: </a:t>
            </a:r>
            <a:endParaRPr b="1"/>
          </a:p>
          <a:p>
            <a:pPr indent="-304800" lvl="0" marL="457200" rtl="0" algn="l">
              <a:spcBef>
                <a:spcPts val="1200"/>
              </a:spcBef>
              <a:spcAft>
                <a:spcPts val="0"/>
              </a:spcAft>
              <a:buSzPts val="1200"/>
              <a:buChar char="●"/>
            </a:pPr>
            <a:r>
              <a:rPr lang="de"/>
              <a:t>measured continuously, identifying branch area with repeated photographs</a:t>
            </a:r>
            <a:endParaRPr/>
          </a:p>
          <a:p>
            <a:pPr indent="-304800" lvl="0" marL="457200" rtl="0" algn="l">
              <a:spcBef>
                <a:spcPts val="0"/>
              </a:spcBef>
              <a:spcAft>
                <a:spcPts val="0"/>
              </a:spcAft>
              <a:buSzPts val="1200"/>
              <a:buChar char="●"/>
            </a:pPr>
            <a:r>
              <a:rPr lang="de"/>
              <a:t>used as a proxy for </a:t>
            </a:r>
            <a:r>
              <a:rPr lang="de"/>
              <a:t>continuous</a:t>
            </a:r>
            <a:r>
              <a:rPr lang="de"/>
              <a:t> water potential </a:t>
            </a:r>
            <a:endParaRPr/>
          </a:p>
        </p:txBody>
      </p:sp>
      <p:sp>
        <p:nvSpPr>
          <p:cNvPr id="393" name="Google Shape;393;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7" name="Shape 397"/>
        <p:cNvGrpSpPr/>
        <p:nvPr/>
      </p:nvGrpSpPr>
      <p:grpSpPr>
        <a:xfrm>
          <a:off x="0" y="0"/>
          <a:ext cx="0" cy="0"/>
          <a:chOff x="0" y="0"/>
          <a:chExt cx="0" cy="0"/>
        </a:xfrm>
      </p:grpSpPr>
      <p:sp>
        <p:nvSpPr>
          <p:cNvPr id="398" name="Google Shape;39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a:t>
            </a:r>
            <a:endParaRPr/>
          </a:p>
        </p:txBody>
      </p:sp>
      <p:pic>
        <p:nvPicPr>
          <p:cNvPr id="399" name="Google Shape;399;p47" title="sf_daily_timeseries2.jpeg"/>
          <p:cNvPicPr preferRelativeResize="0"/>
          <p:nvPr/>
        </p:nvPicPr>
        <p:blipFill>
          <a:blip r:embed="rId3">
            <a:alphaModFix/>
          </a:blip>
          <a:stretch>
            <a:fillRect/>
          </a:stretch>
        </p:blipFill>
        <p:spPr>
          <a:xfrm>
            <a:off x="2528074" y="267175"/>
            <a:ext cx="6095400" cy="4876326"/>
          </a:xfrm>
          <a:prstGeom prst="rect">
            <a:avLst/>
          </a:prstGeom>
          <a:noFill/>
          <a:ln>
            <a:noFill/>
          </a:ln>
        </p:spPr>
      </p:pic>
      <p:sp>
        <p:nvSpPr>
          <p:cNvPr id="400" name="Google Shape;40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4" name="Shape 404"/>
        <p:cNvGrpSpPr/>
        <p:nvPr/>
      </p:nvGrpSpPr>
      <p:grpSpPr>
        <a:xfrm>
          <a:off x="0" y="0"/>
          <a:ext cx="0" cy="0"/>
          <a:chOff x="0" y="0"/>
          <a:chExt cx="0" cy="0"/>
        </a:xfrm>
      </p:grpSpPr>
      <p:sp>
        <p:nvSpPr>
          <p:cNvPr id="405" name="Google Shape;405;p48"/>
          <p:cNvSpPr txBox="1"/>
          <p:nvPr/>
        </p:nvSpPr>
        <p:spPr>
          <a:xfrm>
            <a:off x="497488" y="1963075"/>
            <a:ext cx="3671700" cy="3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800">
                <a:solidFill>
                  <a:schemeClr val="dk2"/>
                </a:solidFill>
              </a:rPr>
              <a:t>Mixing Modell Kühnhammer et al.</a:t>
            </a:r>
            <a:endParaRPr sz="1800">
              <a:solidFill>
                <a:schemeClr val="dk2"/>
              </a:solidFill>
            </a:endParaRPr>
          </a:p>
        </p:txBody>
      </p:sp>
      <p:sp>
        <p:nvSpPr>
          <p:cNvPr id="406" name="Google Shape;406;p48"/>
          <p:cNvSpPr txBox="1"/>
          <p:nvPr/>
        </p:nvSpPr>
        <p:spPr>
          <a:xfrm>
            <a:off x="5889863" y="1969225"/>
            <a:ext cx="135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800">
                <a:solidFill>
                  <a:schemeClr val="dk2"/>
                </a:solidFill>
              </a:rPr>
              <a:t>MixSiar</a:t>
            </a:r>
            <a:endParaRPr sz="1800">
              <a:solidFill>
                <a:schemeClr val="dk2"/>
              </a:solidFill>
            </a:endParaRPr>
          </a:p>
        </p:txBody>
      </p:sp>
      <p:sp>
        <p:nvSpPr>
          <p:cNvPr id="407" name="Google Shape;407;p48"/>
          <p:cNvSpPr txBox="1"/>
          <p:nvPr/>
        </p:nvSpPr>
        <p:spPr>
          <a:xfrm>
            <a:off x="1698150" y="126050"/>
            <a:ext cx="574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2800">
                <a:solidFill>
                  <a:schemeClr val="dk1"/>
                </a:solidFill>
              </a:rPr>
              <a:t>Comparison of the mixing modells</a:t>
            </a:r>
            <a:endParaRPr/>
          </a:p>
        </p:txBody>
      </p:sp>
      <p:sp>
        <p:nvSpPr>
          <p:cNvPr id="408" name="Google Shape;408;p48"/>
          <p:cNvSpPr txBox="1"/>
          <p:nvPr/>
        </p:nvSpPr>
        <p:spPr>
          <a:xfrm>
            <a:off x="256775" y="741650"/>
            <a:ext cx="8124300" cy="938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de" sz="1800">
                <a:solidFill>
                  <a:schemeClr val="dk2"/>
                </a:solidFill>
              </a:rPr>
              <a:t>Consistent label detection for 2026-02-27</a:t>
            </a:r>
            <a:endParaRPr sz="1800">
              <a:solidFill>
                <a:schemeClr val="dk2"/>
              </a:solidFill>
            </a:endParaRPr>
          </a:p>
        </p:txBody>
      </p:sp>
      <p:pic>
        <p:nvPicPr>
          <p:cNvPr id="409" name="Google Shape;409;p48" title="contribution.png"/>
          <p:cNvPicPr preferRelativeResize="0"/>
          <p:nvPr/>
        </p:nvPicPr>
        <p:blipFill rotWithShape="1">
          <a:blip r:embed="rId3">
            <a:alphaModFix/>
          </a:blip>
          <a:srcRect b="0" l="0" r="10794" t="0"/>
          <a:stretch/>
        </p:blipFill>
        <p:spPr>
          <a:xfrm>
            <a:off x="256775" y="2430925"/>
            <a:ext cx="3912426" cy="2712575"/>
          </a:xfrm>
          <a:prstGeom prst="rect">
            <a:avLst/>
          </a:prstGeom>
          <a:noFill/>
          <a:ln>
            <a:noFill/>
          </a:ln>
        </p:spPr>
      </p:pic>
      <p:pic>
        <p:nvPicPr>
          <p:cNvPr id="410" name="Google Shape;410;p48" title="mixsiar_contribution.png"/>
          <p:cNvPicPr preferRelativeResize="0"/>
          <p:nvPr/>
        </p:nvPicPr>
        <p:blipFill>
          <a:blip r:embed="rId4">
            <a:alphaModFix/>
          </a:blip>
          <a:stretch>
            <a:fillRect/>
          </a:stretch>
        </p:blipFill>
        <p:spPr>
          <a:xfrm>
            <a:off x="4376301" y="2430925"/>
            <a:ext cx="4385846" cy="2712575"/>
          </a:xfrm>
          <a:prstGeom prst="rect">
            <a:avLst/>
          </a:prstGeom>
          <a:noFill/>
          <a:ln>
            <a:noFill/>
          </a:ln>
        </p:spPr>
      </p:pic>
      <p:sp>
        <p:nvSpPr>
          <p:cNvPr id="411" name="Google Shape;41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5" name="Shape 415"/>
        <p:cNvGrpSpPr/>
        <p:nvPr/>
      </p:nvGrpSpPr>
      <p:grpSpPr>
        <a:xfrm>
          <a:off x="0" y="0"/>
          <a:ext cx="0" cy="0"/>
          <a:chOff x="0" y="0"/>
          <a:chExt cx="0" cy="0"/>
        </a:xfrm>
      </p:grpSpPr>
      <p:sp>
        <p:nvSpPr>
          <p:cNvPr id="416" name="Google Shape;41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absolute uptake of label</a:t>
            </a:r>
            <a:endParaRPr/>
          </a:p>
        </p:txBody>
      </p:sp>
      <p:sp>
        <p:nvSpPr>
          <p:cNvPr id="417" name="Google Shape;41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418" name="Google Shape;418;p49" title="total_uptake_drift_wo.png"/>
          <p:cNvPicPr preferRelativeResize="0"/>
          <p:nvPr/>
        </p:nvPicPr>
        <p:blipFill>
          <a:blip r:embed="rId3">
            <a:alphaModFix/>
          </a:blip>
          <a:stretch>
            <a:fillRect/>
          </a:stretch>
        </p:blipFill>
        <p:spPr>
          <a:xfrm>
            <a:off x="3251425" y="1228925"/>
            <a:ext cx="5769725" cy="3564450"/>
          </a:xfrm>
          <a:prstGeom prst="rect">
            <a:avLst/>
          </a:prstGeom>
          <a:noFill/>
          <a:ln>
            <a:noFill/>
          </a:ln>
        </p:spPr>
      </p:pic>
      <p:sp>
        <p:nvSpPr>
          <p:cNvPr id="419" name="Google Shape;419;p49"/>
          <p:cNvSpPr txBox="1"/>
          <p:nvPr/>
        </p:nvSpPr>
        <p:spPr>
          <a:xfrm>
            <a:off x="341025" y="1228850"/>
            <a:ext cx="2822100" cy="3564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333333"/>
              </a:buClr>
              <a:buSzPts val="1800"/>
              <a:buFont typeface="Open Sans Light"/>
              <a:buChar char="-"/>
            </a:pPr>
            <a:r>
              <a:t/>
            </a:r>
            <a:endParaRPr sz="1800">
              <a:solidFill>
                <a:srgbClr val="333333"/>
              </a:solidFill>
              <a:latin typeface="Open Sans Light"/>
              <a:ea typeface="Open Sans Light"/>
              <a:cs typeface="Open Sans Light"/>
              <a:sym typeface="Open Sans 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3" name="Shape 423"/>
        <p:cNvGrpSpPr/>
        <p:nvPr/>
      </p:nvGrpSpPr>
      <p:grpSpPr>
        <a:xfrm>
          <a:off x="0" y="0"/>
          <a:ext cx="0" cy="0"/>
          <a:chOff x="0" y="0"/>
          <a:chExt cx="0" cy="0"/>
        </a:xfrm>
      </p:grpSpPr>
      <p:sp>
        <p:nvSpPr>
          <p:cNvPr id="424" name="Google Shape;424;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wrap up </a:t>
            </a:r>
            <a:endParaRPr/>
          </a:p>
        </p:txBody>
      </p:sp>
      <p:sp>
        <p:nvSpPr>
          <p:cNvPr id="425" name="Google Shape;425;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de"/>
              <a:t>W</a:t>
            </a:r>
            <a:r>
              <a:rPr lang="de"/>
              <a:t>ater potential drops stronger in Douglas fir compared to Scots pine</a:t>
            </a:r>
            <a:endParaRPr/>
          </a:p>
          <a:p>
            <a:pPr indent="-342900" lvl="0" marL="457200" rtl="0" algn="l">
              <a:spcBef>
                <a:spcPts val="0"/>
              </a:spcBef>
              <a:spcAft>
                <a:spcPts val="0"/>
              </a:spcAft>
              <a:buSzPts val="1800"/>
              <a:buChar char="-"/>
            </a:pPr>
            <a:r>
              <a:rPr lang="de"/>
              <a:t>isotopic signature in douglas fir indicates that label was taken up faster, also transported to upper branches</a:t>
            </a:r>
            <a:endParaRPr/>
          </a:p>
          <a:p>
            <a:pPr indent="-342900" lvl="0" marL="457200" rtl="0" algn="l">
              <a:spcBef>
                <a:spcPts val="0"/>
              </a:spcBef>
              <a:spcAft>
                <a:spcPts val="0"/>
              </a:spcAft>
              <a:buSzPts val="1800"/>
              <a:buChar char="-"/>
            </a:pPr>
            <a:r>
              <a:rPr lang="de"/>
              <a:t>soil moisture measured next to Douglas fir trees decreased throughout sunny days</a:t>
            </a:r>
            <a:endParaRPr/>
          </a:p>
          <a:p>
            <a:pPr indent="-342900" lvl="0" marL="457200" rtl="0" algn="l">
              <a:spcBef>
                <a:spcPts val="0"/>
              </a:spcBef>
              <a:spcAft>
                <a:spcPts val="0"/>
              </a:spcAft>
              <a:buSzPts val="1800"/>
              <a:buChar char="-"/>
            </a:pPr>
            <a:r>
              <a:rPr lang="de"/>
              <a:t>however: sap flow indicates comparable water consumption in Douglas fir and Pine</a:t>
            </a:r>
            <a:endParaRPr/>
          </a:p>
        </p:txBody>
      </p:sp>
      <p:sp>
        <p:nvSpPr>
          <p:cNvPr id="426" name="Google Shape;426;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Results - Label contribution</a:t>
            </a:r>
            <a:r>
              <a:rPr lang="de" sz="2700"/>
              <a:t> Kühnhammer approach</a:t>
            </a:r>
            <a:endParaRPr sz="2700"/>
          </a:p>
        </p:txBody>
      </p:sp>
      <p:pic>
        <p:nvPicPr>
          <p:cNvPr id="432" name="Google Shape;432;p51" title="contribution.png"/>
          <p:cNvPicPr preferRelativeResize="0"/>
          <p:nvPr/>
        </p:nvPicPr>
        <p:blipFill rotWithShape="1">
          <a:blip r:embed="rId3">
            <a:alphaModFix/>
          </a:blip>
          <a:srcRect b="0" l="0" r="931" t="0"/>
          <a:stretch/>
        </p:blipFill>
        <p:spPr>
          <a:xfrm>
            <a:off x="1895713" y="1176700"/>
            <a:ext cx="5352574" cy="3341600"/>
          </a:xfrm>
          <a:prstGeom prst="rect">
            <a:avLst/>
          </a:prstGeom>
          <a:noFill/>
          <a:ln>
            <a:noFill/>
          </a:ln>
        </p:spPr>
      </p:pic>
      <p:sp>
        <p:nvSpPr>
          <p:cNvPr id="433" name="Google Shape;43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7" name="Shape 437"/>
        <p:cNvGrpSpPr/>
        <p:nvPr/>
      </p:nvGrpSpPr>
      <p:grpSpPr>
        <a:xfrm>
          <a:off x="0" y="0"/>
          <a:ext cx="0" cy="0"/>
          <a:chOff x="0" y="0"/>
          <a:chExt cx="0" cy="0"/>
        </a:xfrm>
      </p:grpSpPr>
      <p:sp>
        <p:nvSpPr>
          <p:cNvPr id="438" name="Google Shape;438;p52"/>
          <p:cNvSpPr txBox="1"/>
          <p:nvPr>
            <p:ph type="title"/>
          </p:nvPr>
        </p:nvSpPr>
        <p:spPr>
          <a:xfrm>
            <a:off x="311700" y="45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Sap flux density - Radial variation</a:t>
            </a:r>
            <a:endParaRPr/>
          </a:p>
        </p:txBody>
      </p:sp>
      <p:sp>
        <p:nvSpPr>
          <p:cNvPr id="439" name="Google Shape;439;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40" name="Google Shape;440;p52" title="sflux_in_out_timeseries.jpeg"/>
          <p:cNvPicPr preferRelativeResize="0"/>
          <p:nvPr/>
        </p:nvPicPr>
        <p:blipFill>
          <a:blip r:embed="rId3">
            <a:alphaModFix/>
          </a:blip>
          <a:stretch>
            <a:fillRect/>
          </a:stretch>
        </p:blipFill>
        <p:spPr>
          <a:xfrm>
            <a:off x="1395048" y="618100"/>
            <a:ext cx="6353899" cy="4485126"/>
          </a:xfrm>
          <a:prstGeom prst="rect">
            <a:avLst/>
          </a:prstGeom>
          <a:noFill/>
          <a:ln>
            <a:noFill/>
          </a:ln>
        </p:spPr>
      </p:pic>
      <p:sp>
        <p:nvSpPr>
          <p:cNvPr id="441" name="Google Shape;44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5" name="Shape 445"/>
        <p:cNvGrpSpPr/>
        <p:nvPr/>
      </p:nvGrpSpPr>
      <p:grpSpPr>
        <a:xfrm>
          <a:off x="0" y="0"/>
          <a:ext cx="0" cy="0"/>
          <a:chOff x="0" y="0"/>
          <a:chExt cx="0" cy="0"/>
        </a:xfrm>
      </p:grpSpPr>
      <p:sp>
        <p:nvSpPr>
          <p:cNvPr id="446" name="Google Shape;44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Filter optical dendrometers</a:t>
            </a:r>
            <a:endParaRPr/>
          </a:p>
        </p:txBody>
      </p:sp>
      <p:sp>
        <p:nvSpPr>
          <p:cNvPr id="447" name="Google Shape;447;p53"/>
          <p:cNvSpPr txBox="1"/>
          <p:nvPr>
            <p:ph idx="1" type="body"/>
          </p:nvPr>
        </p:nvSpPr>
        <p:spPr>
          <a:xfrm>
            <a:off x="311700" y="1152475"/>
            <a:ext cx="2647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mean(timeseries) +- </a:t>
            </a:r>
            <a:endParaRPr/>
          </a:p>
          <a:p>
            <a:pPr indent="0" lvl="0" marL="0" rtl="0" algn="l">
              <a:spcBef>
                <a:spcPts val="1200"/>
              </a:spcBef>
              <a:spcAft>
                <a:spcPts val="1200"/>
              </a:spcAft>
              <a:buNone/>
            </a:pPr>
            <a:r>
              <a:rPr lang="de"/>
              <a:t>3* standard deviation</a:t>
            </a:r>
            <a:endParaRPr/>
          </a:p>
        </p:txBody>
      </p:sp>
      <p:sp>
        <p:nvSpPr>
          <p:cNvPr id="448" name="Google Shape;448;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
              <a:t>‹#›</a:t>
            </a:fld>
            <a:endParaRPr/>
          </a:p>
        </p:txBody>
      </p:sp>
      <p:pic>
        <p:nvPicPr>
          <p:cNvPr id="449" name="Google Shape;449;p53" title="od_filter_timeseries.jpeg"/>
          <p:cNvPicPr preferRelativeResize="0"/>
          <p:nvPr/>
        </p:nvPicPr>
        <p:blipFill>
          <a:blip r:embed="rId3">
            <a:alphaModFix/>
          </a:blip>
          <a:stretch>
            <a:fillRect/>
          </a:stretch>
        </p:blipFill>
        <p:spPr>
          <a:xfrm>
            <a:off x="3176025" y="1017725"/>
            <a:ext cx="5117655" cy="40941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